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Inter Medium" charset="1" panose="02000503000000020004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2304" y="-57150"/>
            <a:ext cx="2189085" cy="1496091"/>
          </a:xfrm>
          <a:custGeom>
            <a:avLst/>
            <a:gdLst/>
            <a:ahLst/>
            <a:cxnLst/>
            <a:rect r="r" b="b" t="t" l="l"/>
            <a:pathLst>
              <a:path h="1496091" w="2189085">
                <a:moveTo>
                  <a:pt x="0" y="0"/>
                </a:moveTo>
                <a:lnTo>
                  <a:pt x="2189085" y="0"/>
                </a:lnTo>
                <a:lnTo>
                  <a:pt x="2189085" y="1496091"/>
                </a:lnTo>
                <a:lnTo>
                  <a:pt x="0" y="1496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1508074"/>
            <a:ext cx="16303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ESG Resolve: AI-Powered ESG Analytics for SMEs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213344"/>
            <a:ext cx="16303523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More than a </a:t>
            </a: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Chatbot. More than a Dashboard. An Autonomous ESG Action Engine for SMEs.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4168378"/>
            <a:ext cx="6507807" cy="42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Team Velocity | Autonomous Hacks’26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734220"/>
            <a:ext cx="16394609" cy="44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29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SMEs need AI-p</a:t>
            </a:r>
            <a:r>
              <a:rPr lang="en-US" sz="29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owered ESG analytics with roadmap, opportunities, and recommendations.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782418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Small and Medium-sized Enterprises (SMEs) face increasing pressure to adopt robust Environmental, Social, and Governance (ESG) practices. However, existing ESG tools are often: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008609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Complex and expensive, designed for large enterprises.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561364"/>
            <a:ext cx="163035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Lacking in actionable guidance and clear expertise for SMEs.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8333927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The result is widespread ESG confusion, inaction, and missed business opportunities for a vital segment of the global economy.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1188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" id="4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8370"/>
            <a:ext cx="7581950" cy="739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0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What This Problem Solves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0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ESG Resolve transforms ESG from a daunting reporting burden into a practical path for improvement by: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 marL="661196" indent="-330598" lvl="1">
              <a:lnSpc>
                <a:spcPts val="4900"/>
              </a:lnSpc>
              <a:buFont typeface="Arial"/>
              <a:buChar char="•"/>
            </a:pPr>
            <a:r>
              <a:rPr lang="en-US" b="true" sz="30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Making ESG accessible and actionable for SMEs.</a:t>
            </a:r>
          </a:p>
          <a:p>
            <a:pPr algn="l" marL="661196" indent="-330598" lvl="1">
              <a:lnSpc>
                <a:spcPts val="4900"/>
              </a:lnSpc>
              <a:buFont typeface="Arial"/>
              <a:buChar char="•"/>
            </a:pPr>
            <a:r>
              <a:rPr lang="en-US" b="true" sz="30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Enabling SMEs to understand their ESG readiness without costly consultants.</a:t>
            </a:r>
          </a:p>
          <a:p>
            <a:pPr algn="l" marL="661196" indent="-330598" lvl="1">
              <a:lnSpc>
                <a:spcPts val="4900"/>
              </a:lnSpc>
              <a:buFont typeface="Arial"/>
              <a:buChar char="•"/>
            </a:pPr>
            <a:r>
              <a:rPr lang="en-US" b="true" sz="30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Bridging the critical gap between raw ESG data and tangible execution.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7384" y="555407"/>
            <a:ext cx="7508262" cy="780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9"/>
              </a:lnSpc>
              <a:spcBef>
                <a:spcPct val="0"/>
              </a:spcBef>
            </a:pPr>
            <a:r>
              <a:rPr lang="en-US" b="true" sz="298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Our Solution: ESG Resolve</a:t>
            </a:r>
          </a:p>
          <a:p>
            <a:pPr algn="l">
              <a:lnSpc>
                <a:spcPts val="4769"/>
              </a:lnSpc>
              <a:spcBef>
                <a:spcPct val="0"/>
              </a:spcBef>
            </a:pPr>
            <a:r>
              <a:rPr lang="en-US" b="true" sz="298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ESG Resolve is an AI-powered ESG analytics and readiness platform that acts as a virtual Chief Sustainability Officer for SMEs.</a:t>
            </a:r>
          </a:p>
          <a:p>
            <a:pPr algn="l">
              <a:lnSpc>
                <a:spcPts val="4769"/>
              </a:lnSpc>
              <a:spcBef>
                <a:spcPct val="0"/>
              </a:spcBef>
            </a:pPr>
          </a:p>
          <a:p>
            <a:pPr algn="l" marL="643613" indent="-321807" lvl="1">
              <a:lnSpc>
                <a:spcPts val="4769"/>
              </a:lnSpc>
              <a:buFont typeface="Arial"/>
              <a:buChar char="•"/>
            </a:pPr>
            <a:r>
              <a:rPr lang="en-US" b="true" sz="298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Provides comprehensive ESG scoring and carbon footprint analysis.</a:t>
            </a:r>
          </a:p>
          <a:p>
            <a:pPr algn="l" marL="643613" indent="-321807" lvl="1">
              <a:lnSpc>
                <a:spcPts val="4769"/>
              </a:lnSpc>
              <a:buFont typeface="Arial"/>
              <a:buChar char="•"/>
            </a:pPr>
            <a:r>
              <a:rPr lang="en-US" b="true" sz="298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Delivers insightful analytics and practical improvement guidance.</a:t>
            </a:r>
          </a:p>
          <a:p>
            <a:pPr algn="l" marL="643613" indent="-321807" lvl="1">
              <a:lnSpc>
                <a:spcPts val="4769"/>
              </a:lnSpc>
              <a:buFont typeface="Arial"/>
              <a:buChar char="•"/>
            </a:pPr>
            <a:r>
              <a:rPr lang="en-US" b="true" sz="298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Focuses intensely on actionable steps, not just compliance or certification.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23234" y="497491"/>
            <a:ext cx="8135524" cy="8065393"/>
            <a:chOff x="0" y="0"/>
            <a:chExt cx="2142690" cy="21242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2690" cy="2124219"/>
            </a:xfrm>
            <a:custGeom>
              <a:avLst/>
              <a:gdLst/>
              <a:ahLst/>
              <a:cxnLst/>
              <a:rect r="r" b="b" t="t" l="l"/>
              <a:pathLst>
                <a:path h="2124219" w="2142690">
                  <a:moveTo>
                    <a:pt x="16178" y="0"/>
                  </a:moveTo>
                  <a:lnTo>
                    <a:pt x="2126512" y="0"/>
                  </a:lnTo>
                  <a:cubicBezTo>
                    <a:pt x="2135447" y="0"/>
                    <a:pt x="2142690" y="7243"/>
                    <a:pt x="2142690" y="16178"/>
                  </a:cubicBezTo>
                  <a:lnTo>
                    <a:pt x="2142690" y="2108041"/>
                  </a:lnTo>
                  <a:cubicBezTo>
                    <a:pt x="2142690" y="2116976"/>
                    <a:pt x="2135447" y="2124219"/>
                    <a:pt x="2126512" y="2124219"/>
                  </a:cubicBezTo>
                  <a:lnTo>
                    <a:pt x="16178" y="2124219"/>
                  </a:lnTo>
                  <a:cubicBezTo>
                    <a:pt x="7243" y="2124219"/>
                    <a:pt x="0" y="2116976"/>
                    <a:pt x="0" y="2108041"/>
                  </a:cubicBezTo>
                  <a:lnTo>
                    <a:pt x="0" y="16178"/>
                  </a:lnTo>
                  <a:cubicBezTo>
                    <a:pt x="0" y="7243"/>
                    <a:pt x="7243" y="0"/>
                    <a:pt x="161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42690" cy="2181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03150" y="497491"/>
            <a:ext cx="8135524" cy="8065393"/>
            <a:chOff x="0" y="0"/>
            <a:chExt cx="2142690" cy="21242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2690" cy="2124219"/>
            </a:xfrm>
            <a:custGeom>
              <a:avLst/>
              <a:gdLst/>
              <a:ahLst/>
              <a:cxnLst/>
              <a:rect r="r" b="b" t="t" l="l"/>
              <a:pathLst>
                <a:path h="2124219" w="2142690">
                  <a:moveTo>
                    <a:pt x="16178" y="0"/>
                  </a:moveTo>
                  <a:lnTo>
                    <a:pt x="2126512" y="0"/>
                  </a:lnTo>
                  <a:cubicBezTo>
                    <a:pt x="2135447" y="0"/>
                    <a:pt x="2142690" y="7243"/>
                    <a:pt x="2142690" y="16178"/>
                  </a:cubicBezTo>
                  <a:lnTo>
                    <a:pt x="2142690" y="2108041"/>
                  </a:lnTo>
                  <a:cubicBezTo>
                    <a:pt x="2142690" y="2116976"/>
                    <a:pt x="2135447" y="2124219"/>
                    <a:pt x="2126512" y="2124219"/>
                  </a:cubicBezTo>
                  <a:lnTo>
                    <a:pt x="16178" y="2124219"/>
                  </a:lnTo>
                  <a:cubicBezTo>
                    <a:pt x="7243" y="2124219"/>
                    <a:pt x="0" y="2116976"/>
                    <a:pt x="0" y="2108041"/>
                  </a:cubicBezTo>
                  <a:lnTo>
                    <a:pt x="0" y="16178"/>
                  </a:lnTo>
                  <a:cubicBezTo>
                    <a:pt x="0" y="7243"/>
                    <a:pt x="7243" y="0"/>
                    <a:pt x="1617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42690" cy="2181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362" strike="noStrike" u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083823" y="-2470411"/>
            <a:ext cx="26964034" cy="13482017"/>
          </a:xfrm>
          <a:custGeom>
            <a:avLst/>
            <a:gdLst/>
            <a:ahLst/>
            <a:cxnLst/>
            <a:rect r="r" b="b" t="t" l="l"/>
            <a:pathLst>
              <a:path h="13482017" w="26964034">
                <a:moveTo>
                  <a:pt x="0" y="0"/>
                </a:moveTo>
                <a:lnTo>
                  <a:pt x="26964034" y="0"/>
                </a:lnTo>
                <a:lnTo>
                  <a:pt x="26964034" y="13482017"/>
                </a:lnTo>
                <a:lnTo>
                  <a:pt x="0" y="134820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331595"/>
            <a:ext cx="18288000" cy="8869680"/>
          </a:xfrm>
          <a:custGeom>
            <a:avLst/>
            <a:gdLst/>
            <a:ahLst/>
            <a:cxnLst/>
            <a:rect r="r" b="b" t="t" l="l"/>
            <a:pathLst>
              <a:path h="8869680" w="18288000">
                <a:moveTo>
                  <a:pt x="0" y="0"/>
                </a:moveTo>
                <a:lnTo>
                  <a:pt x="18288000" y="0"/>
                </a:lnTo>
                <a:lnTo>
                  <a:pt x="18288000" y="8869680"/>
                </a:lnTo>
                <a:lnTo>
                  <a:pt x="0" y="8869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9031" y="85028"/>
            <a:ext cx="2463812" cy="75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b="true" sz="39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Flowchart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845048"/>
            <a:ext cx="10702681" cy="629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How ESG Resolve Works: From Data to Action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1871662"/>
            <a:ext cx="8151762" cy="793852"/>
          </a:xfrm>
          <a:custGeom>
            <a:avLst/>
            <a:gdLst/>
            <a:ahLst/>
            <a:cxnLst/>
            <a:rect r="r" b="b" t="t" l="l"/>
            <a:pathLst>
              <a:path h="793852" w="8151762">
                <a:moveTo>
                  <a:pt x="0" y="0"/>
                </a:moveTo>
                <a:lnTo>
                  <a:pt x="8151762" y="0"/>
                </a:lnTo>
                <a:lnTo>
                  <a:pt x="8151762" y="793852"/>
                </a:lnTo>
                <a:lnTo>
                  <a:pt x="0" y="793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7" t="0" r="-21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0625" y="2863901"/>
            <a:ext cx="2480815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Business Data 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0625" y="3235823"/>
            <a:ext cx="7754988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Users provide essential environmental, social, and governance data points.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144000" y="1871662"/>
            <a:ext cx="8151762" cy="793852"/>
          </a:xfrm>
          <a:custGeom>
            <a:avLst/>
            <a:gdLst/>
            <a:ahLst/>
            <a:cxnLst/>
            <a:rect r="r" b="b" t="t" l="l"/>
            <a:pathLst>
              <a:path h="793852" w="8151762">
                <a:moveTo>
                  <a:pt x="0" y="0"/>
                </a:moveTo>
                <a:lnTo>
                  <a:pt x="8151762" y="0"/>
                </a:lnTo>
                <a:lnTo>
                  <a:pt x="8151762" y="793852"/>
                </a:lnTo>
                <a:lnTo>
                  <a:pt x="0" y="79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7" t="0" r="-21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42387" y="2863901"/>
            <a:ext cx="2480815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AI-Driven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42387" y="3235823"/>
            <a:ext cx="7754988" cy="6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Our AI conducts ESG and carbon analysis, generating explainable scores with confidence indicators.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4126554"/>
            <a:ext cx="8151762" cy="793852"/>
          </a:xfrm>
          <a:custGeom>
            <a:avLst/>
            <a:gdLst/>
            <a:ahLst/>
            <a:cxnLst/>
            <a:rect r="r" b="b" t="t" l="l"/>
            <a:pathLst>
              <a:path h="793852" w="8151762">
                <a:moveTo>
                  <a:pt x="0" y="0"/>
                </a:moveTo>
                <a:lnTo>
                  <a:pt x="8151762" y="0"/>
                </a:lnTo>
                <a:lnTo>
                  <a:pt x="8151762" y="793851"/>
                </a:lnTo>
                <a:lnTo>
                  <a:pt x="0" y="793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7" t="0" r="-21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90625" y="5118792"/>
            <a:ext cx="2480815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Action Roadmap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0625" y="5490715"/>
            <a:ext cx="7754988" cy="6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AI-generated recommendations are converted into a 30-60-90 day ESG action roadmap.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144000" y="4126554"/>
            <a:ext cx="8151762" cy="793852"/>
          </a:xfrm>
          <a:custGeom>
            <a:avLst/>
            <a:gdLst/>
            <a:ahLst/>
            <a:cxnLst/>
            <a:rect r="r" b="b" t="t" l="l"/>
            <a:pathLst>
              <a:path h="793852" w="8151762">
                <a:moveTo>
                  <a:pt x="0" y="0"/>
                </a:moveTo>
                <a:lnTo>
                  <a:pt x="8151762" y="0"/>
                </a:lnTo>
                <a:lnTo>
                  <a:pt x="8151762" y="793851"/>
                </a:lnTo>
                <a:lnTo>
                  <a:pt x="0" y="7938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7" t="0" r="-217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42387" y="5118792"/>
            <a:ext cx="3089072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Implementation Assistant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42387" y="5490715"/>
            <a:ext cx="7754988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state-aware AI assistant guides users through continuous ESG implementation.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238" y="6547542"/>
            <a:ext cx="16303523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ESG Resolve provides a clear path from data ingestion to actionable ESG strategy.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2238" y="7145541"/>
            <a:ext cx="16303523" cy="2286895"/>
            <a:chOff x="0" y="0"/>
            <a:chExt cx="21738031" cy="30491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38082" cy="3049270"/>
            </a:xfrm>
            <a:custGeom>
              <a:avLst/>
              <a:gdLst/>
              <a:ahLst/>
              <a:cxnLst/>
              <a:rect r="r" b="b" t="t" l="l"/>
              <a:pathLst>
                <a:path h="3049270" w="21738082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21698331" y="0"/>
                  </a:lnTo>
                  <a:cubicBezTo>
                    <a:pt x="21720302" y="0"/>
                    <a:pt x="21738082" y="17780"/>
                    <a:pt x="21738082" y="39751"/>
                  </a:cubicBezTo>
                  <a:lnTo>
                    <a:pt x="21738082" y="3009519"/>
                  </a:lnTo>
                  <a:cubicBezTo>
                    <a:pt x="21738082" y="3031490"/>
                    <a:pt x="21720302" y="3049270"/>
                    <a:pt x="21698331" y="3049270"/>
                  </a:cubicBezTo>
                  <a:lnTo>
                    <a:pt x="39751" y="3049270"/>
                  </a:lnTo>
                  <a:cubicBezTo>
                    <a:pt x="17780" y="3049270"/>
                    <a:pt x="0" y="3031490"/>
                    <a:pt x="0" y="3009519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92238" y="7145541"/>
            <a:ext cx="8151762" cy="1143448"/>
            <a:chOff x="0" y="0"/>
            <a:chExt cx="10869016" cy="15245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69041" cy="1524635"/>
            </a:xfrm>
            <a:custGeom>
              <a:avLst/>
              <a:gdLst/>
              <a:ahLst/>
              <a:cxnLst/>
              <a:rect r="r" b="b" t="t" l="l"/>
              <a:pathLst>
                <a:path h="1524635" w="10869041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10829290" y="0"/>
                  </a:lnTo>
                  <a:cubicBezTo>
                    <a:pt x="10851261" y="0"/>
                    <a:pt x="10869041" y="17780"/>
                    <a:pt x="10869041" y="39751"/>
                  </a:cubicBezTo>
                  <a:lnTo>
                    <a:pt x="10869041" y="1484884"/>
                  </a:lnTo>
                  <a:cubicBezTo>
                    <a:pt x="10869041" y="1506855"/>
                    <a:pt x="10851261" y="1524635"/>
                    <a:pt x="10829290" y="1524635"/>
                  </a:cubicBezTo>
                  <a:lnTo>
                    <a:pt x="39751" y="1524635"/>
                  </a:lnTo>
                  <a:cubicBezTo>
                    <a:pt x="17780" y="1524635"/>
                    <a:pt x="0" y="1506855"/>
                    <a:pt x="0" y="1484884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190625" y="7343927"/>
            <a:ext cx="2480815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Automated Scoring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0625" y="7715841"/>
            <a:ext cx="7457332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ESG and carbon footprint scoring with advanced analytics.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0" y="7145541"/>
            <a:ext cx="8151762" cy="1143448"/>
            <a:chOff x="0" y="0"/>
            <a:chExt cx="10869016" cy="152459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69041" cy="1524635"/>
            </a:xfrm>
            <a:custGeom>
              <a:avLst/>
              <a:gdLst/>
              <a:ahLst/>
              <a:cxnLst/>
              <a:rect r="r" b="b" t="t" l="l"/>
              <a:pathLst>
                <a:path h="1524635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24635"/>
                  </a:lnTo>
                  <a:lnTo>
                    <a:pt x="0" y="1524635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0" y="7145541"/>
            <a:ext cx="28575" cy="1143448"/>
            <a:chOff x="0" y="0"/>
            <a:chExt cx="38100" cy="15245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100" cy="1524635"/>
            </a:xfrm>
            <a:custGeom>
              <a:avLst/>
              <a:gdLst/>
              <a:ahLst/>
              <a:cxnLst/>
              <a:rect r="r" b="b" t="t" l="l"/>
              <a:pathLst>
                <a:path h="1524635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505585"/>
                  </a:lnTo>
                  <a:cubicBezTo>
                    <a:pt x="38100" y="1516126"/>
                    <a:pt x="29591" y="1524635"/>
                    <a:pt x="19050" y="1524635"/>
                  </a:cubicBezTo>
                  <a:cubicBezTo>
                    <a:pt x="8509" y="1524635"/>
                    <a:pt x="0" y="1516126"/>
                    <a:pt x="0" y="1505585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640043" y="7343927"/>
            <a:ext cx="3530651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Prioritized Recommendations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0043" y="7715841"/>
            <a:ext cx="7457332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AI-generated, color-coded (Red/Yellow/Green) recommendations for urgency.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881767" y="7454875"/>
            <a:ext cx="524618" cy="524618"/>
            <a:chOff x="0" y="0"/>
            <a:chExt cx="699491" cy="6994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661416" cy="661416"/>
            </a:xfrm>
            <a:custGeom>
              <a:avLst/>
              <a:gdLst/>
              <a:ahLst/>
              <a:cxnLst/>
              <a:rect r="r" b="b" t="t" l="l"/>
              <a:pathLst>
                <a:path h="661416" w="66141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21665" y="0"/>
                  </a:lnTo>
                  <a:cubicBezTo>
                    <a:pt x="643636" y="0"/>
                    <a:pt x="661416" y="17780"/>
                    <a:pt x="661416" y="39751"/>
                  </a:cubicBezTo>
                  <a:lnTo>
                    <a:pt x="661416" y="621665"/>
                  </a:lnTo>
                  <a:cubicBezTo>
                    <a:pt x="661416" y="643636"/>
                    <a:pt x="643636" y="661416"/>
                    <a:pt x="621665" y="661416"/>
                  </a:cubicBezTo>
                  <a:lnTo>
                    <a:pt x="39751" y="661416"/>
                  </a:lnTo>
                  <a:cubicBezTo>
                    <a:pt x="17780" y="661416"/>
                    <a:pt x="0" y="643636"/>
                    <a:pt x="0" y="6216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9516" cy="699516"/>
            </a:xfrm>
            <a:custGeom>
              <a:avLst/>
              <a:gdLst/>
              <a:ahLst/>
              <a:cxnLst/>
              <a:rect r="r" b="b" t="t" l="l"/>
              <a:pathLst>
                <a:path h="699516" w="699516">
                  <a:moveTo>
                    <a:pt x="0" y="58801"/>
                  </a:moveTo>
                  <a:cubicBezTo>
                    <a:pt x="0" y="26289"/>
                    <a:pt x="26289" y="0"/>
                    <a:pt x="58801" y="0"/>
                  </a:cubicBezTo>
                  <a:lnTo>
                    <a:pt x="640715" y="0"/>
                  </a:lnTo>
                  <a:lnTo>
                    <a:pt x="640715" y="19050"/>
                  </a:lnTo>
                  <a:lnTo>
                    <a:pt x="640715" y="0"/>
                  </a:lnTo>
                  <a:cubicBezTo>
                    <a:pt x="673100" y="0"/>
                    <a:pt x="699516" y="26289"/>
                    <a:pt x="699516" y="58801"/>
                  </a:cubicBezTo>
                  <a:lnTo>
                    <a:pt x="680466" y="58801"/>
                  </a:lnTo>
                  <a:lnTo>
                    <a:pt x="699516" y="58801"/>
                  </a:lnTo>
                  <a:lnTo>
                    <a:pt x="699516" y="640715"/>
                  </a:lnTo>
                  <a:lnTo>
                    <a:pt x="680466" y="640715"/>
                  </a:lnTo>
                  <a:lnTo>
                    <a:pt x="699516" y="640715"/>
                  </a:lnTo>
                  <a:cubicBezTo>
                    <a:pt x="699516" y="673100"/>
                    <a:pt x="673227" y="699516"/>
                    <a:pt x="640715" y="699516"/>
                  </a:cubicBezTo>
                  <a:lnTo>
                    <a:pt x="640715" y="680466"/>
                  </a:lnTo>
                  <a:lnTo>
                    <a:pt x="640715" y="699516"/>
                  </a:lnTo>
                  <a:lnTo>
                    <a:pt x="58801" y="699516"/>
                  </a:lnTo>
                  <a:lnTo>
                    <a:pt x="58801" y="680466"/>
                  </a:lnTo>
                  <a:lnTo>
                    <a:pt x="58801" y="699516"/>
                  </a:lnTo>
                  <a:cubicBezTo>
                    <a:pt x="26289" y="699516"/>
                    <a:pt x="0" y="673227"/>
                    <a:pt x="0" y="6407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640715"/>
                  </a:lnTo>
                  <a:lnTo>
                    <a:pt x="19050" y="640715"/>
                  </a:lnTo>
                  <a:lnTo>
                    <a:pt x="38100" y="640715"/>
                  </a:lnTo>
                  <a:cubicBezTo>
                    <a:pt x="38100" y="652145"/>
                    <a:pt x="47371" y="661416"/>
                    <a:pt x="58801" y="661416"/>
                  </a:cubicBezTo>
                  <a:lnTo>
                    <a:pt x="640715" y="661416"/>
                  </a:lnTo>
                  <a:cubicBezTo>
                    <a:pt x="652145" y="661416"/>
                    <a:pt x="661416" y="652145"/>
                    <a:pt x="661416" y="640715"/>
                  </a:cubicBezTo>
                  <a:lnTo>
                    <a:pt x="661416" y="58801"/>
                  </a:lnTo>
                  <a:cubicBezTo>
                    <a:pt x="661416" y="47371"/>
                    <a:pt x="652145" y="38100"/>
                    <a:pt x="640715" y="38100"/>
                  </a:cubicBezTo>
                  <a:lnTo>
                    <a:pt x="58801" y="38100"/>
                  </a:lnTo>
                  <a:lnTo>
                    <a:pt x="58801" y="19050"/>
                  </a:lnTo>
                  <a:lnTo>
                    <a:pt x="58801" y="38100"/>
                  </a:lnTo>
                  <a:cubicBezTo>
                    <a:pt x="47371" y="38100"/>
                    <a:pt x="38100" y="47371"/>
                    <a:pt x="38100" y="58801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020023" y="7593140"/>
            <a:ext cx="247945" cy="247945"/>
          </a:xfrm>
          <a:custGeom>
            <a:avLst/>
            <a:gdLst/>
            <a:ahLst/>
            <a:cxnLst/>
            <a:rect r="r" b="b" t="t" l="l"/>
            <a:pathLst>
              <a:path h="247945" w="247945">
                <a:moveTo>
                  <a:pt x="0" y="0"/>
                </a:moveTo>
                <a:lnTo>
                  <a:pt x="247945" y="0"/>
                </a:lnTo>
                <a:lnTo>
                  <a:pt x="247945" y="247945"/>
                </a:lnTo>
                <a:lnTo>
                  <a:pt x="0" y="247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6668" r="0" b="-16664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92238" y="8288979"/>
            <a:ext cx="8151762" cy="1143448"/>
            <a:chOff x="0" y="0"/>
            <a:chExt cx="10869016" cy="152459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69041" cy="1524635"/>
            </a:xfrm>
            <a:custGeom>
              <a:avLst/>
              <a:gdLst/>
              <a:ahLst/>
              <a:cxnLst/>
              <a:rect r="r" b="b" t="t" l="l"/>
              <a:pathLst>
                <a:path h="1524635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24635"/>
                  </a:lnTo>
                  <a:lnTo>
                    <a:pt x="0" y="1524635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92238" y="8288979"/>
            <a:ext cx="8151762" cy="28575"/>
            <a:chOff x="0" y="0"/>
            <a:chExt cx="10869016" cy="381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869041" cy="38100"/>
            </a:xfrm>
            <a:custGeom>
              <a:avLst/>
              <a:gdLst/>
              <a:ahLst/>
              <a:cxnLst/>
              <a:rect r="r" b="b" t="t" l="l"/>
              <a:pathLst>
                <a:path h="38100" w="1086904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9991" y="0"/>
                  </a:lnTo>
                  <a:cubicBezTo>
                    <a:pt x="10860532" y="0"/>
                    <a:pt x="10869041" y="8509"/>
                    <a:pt x="10869041" y="19050"/>
                  </a:cubicBezTo>
                  <a:cubicBezTo>
                    <a:pt x="10869041" y="29591"/>
                    <a:pt x="10860532" y="38100"/>
                    <a:pt x="1084999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190625" y="8487366"/>
            <a:ext cx="2850947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Autonomous Roadmaps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90625" y="8859288"/>
            <a:ext cx="7457332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30-60-90 day ESG action roadmaps tailored to your progress.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144000" y="8288979"/>
            <a:ext cx="8151762" cy="1143448"/>
            <a:chOff x="0" y="0"/>
            <a:chExt cx="10869016" cy="15245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69041" cy="1524635"/>
            </a:xfrm>
            <a:custGeom>
              <a:avLst/>
              <a:gdLst/>
              <a:ahLst/>
              <a:cxnLst/>
              <a:rect r="r" b="b" t="t" l="l"/>
              <a:pathLst>
                <a:path h="1524635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524635"/>
                  </a:lnTo>
                  <a:lnTo>
                    <a:pt x="0" y="1524635"/>
                  </a:ln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144000" y="8288979"/>
            <a:ext cx="28575" cy="1143448"/>
            <a:chOff x="0" y="0"/>
            <a:chExt cx="38100" cy="152459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100" cy="1524635"/>
            </a:xfrm>
            <a:custGeom>
              <a:avLst/>
              <a:gdLst/>
              <a:ahLst/>
              <a:cxnLst/>
              <a:rect r="r" b="b" t="t" l="l"/>
              <a:pathLst>
                <a:path h="1524635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505585"/>
                  </a:lnTo>
                  <a:cubicBezTo>
                    <a:pt x="38100" y="1516126"/>
                    <a:pt x="29591" y="1524635"/>
                    <a:pt x="19050" y="1524635"/>
                  </a:cubicBezTo>
                  <a:cubicBezTo>
                    <a:pt x="8509" y="1524635"/>
                    <a:pt x="0" y="1516126"/>
                    <a:pt x="0" y="1505585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0" y="8288979"/>
            <a:ext cx="8151762" cy="28575"/>
            <a:chOff x="0" y="0"/>
            <a:chExt cx="10869016" cy="381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69041" cy="38100"/>
            </a:xfrm>
            <a:custGeom>
              <a:avLst/>
              <a:gdLst/>
              <a:ahLst/>
              <a:cxnLst/>
              <a:rect r="r" b="b" t="t" l="l"/>
              <a:pathLst>
                <a:path h="38100" w="1086904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849991" y="0"/>
                  </a:lnTo>
                  <a:cubicBezTo>
                    <a:pt x="10860532" y="0"/>
                    <a:pt x="10869041" y="8509"/>
                    <a:pt x="10869041" y="19050"/>
                  </a:cubicBezTo>
                  <a:cubicBezTo>
                    <a:pt x="10869041" y="29591"/>
                    <a:pt x="10860532" y="38100"/>
                    <a:pt x="1084999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9640043" y="8487366"/>
            <a:ext cx="2812256" cy="310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State-Aware AI Insights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640043" y="8859288"/>
            <a:ext cx="7457332" cy="3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 AI assistant that understands your ESG state and guides your next steps.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881767" y="8598322"/>
            <a:ext cx="524618" cy="524618"/>
            <a:chOff x="0" y="0"/>
            <a:chExt cx="699491" cy="6994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19050" y="19050"/>
              <a:ext cx="661416" cy="661416"/>
            </a:xfrm>
            <a:custGeom>
              <a:avLst/>
              <a:gdLst/>
              <a:ahLst/>
              <a:cxnLst/>
              <a:rect r="r" b="b" t="t" l="l"/>
              <a:pathLst>
                <a:path h="661416" w="661416">
                  <a:moveTo>
                    <a:pt x="0" y="39751"/>
                  </a:moveTo>
                  <a:cubicBezTo>
                    <a:pt x="0" y="17780"/>
                    <a:pt x="17780" y="0"/>
                    <a:pt x="39751" y="0"/>
                  </a:cubicBezTo>
                  <a:lnTo>
                    <a:pt x="621665" y="0"/>
                  </a:lnTo>
                  <a:cubicBezTo>
                    <a:pt x="643636" y="0"/>
                    <a:pt x="661416" y="17780"/>
                    <a:pt x="661416" y="39751"/>
                  </a:cubicBezTo>
                  <a:lnTo>
                    <a:pt x="661416" y="621665"/>
                  </a:lnTo>
                  <a:cubicBezTo>
                    <a:pt x="661416" y="643636"/>
                    <a:pt x="643636" y="661416"/>
                    <a:pt x="621665" y="661416"/>
                  </a:cubicBezTo>
                  <a:lnTo>
                    <a:pt x="39751" y="661416"/>
                  </a:lnTo>
                  <a:cubicBezTo>
                    <a:pt x="17780" y="661416"/>
                    <a:pt x="0" y="643636"/>
                    <a:pt x="0" y="62166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99516" cy="699516"/>
            </a:xfrm>
            <a:custGeom>
              <a:avLst/>
              <a:gdLst/>
              <a:ahLst/>
              <a:cxnLst/>
              <a:rect r="r" b="b" t="t" l="l"/>
              <a:pathLst>
                <a:path h="699516" w="699516">
                  <a:moveTo>
                    <a:pt x="0" y="58801"/>
                  </a:moveTo>
                  <a:cubicBezTo>
                    <a:pt x="0" y="26289"/>
                    <a:pt x="26289" y="0"/>
                    <a:pt x="58801" y="0"/>
                  </a:cubicBezTo>
                  <a:lnTo>
                    <a:pt x="640715" y="0"/>
                  </a:lnTo>
                  <a:lnTo>
                    <a:pt x="640715" y="19050"/>
                  </a:lnTo>
                  <a:lnTo>
                    <a:pt x="640715" y="0"/>
                  </a:lnTo>
                  <a:cubicBezTo>
                    <a:pt x="673100" y="0"/>
                    <a:pt x="699516" y="26289"/>
                    <a:pt x="699516" y="58801"/>
                  </a:cubicBezTo>
                  <a:lnTo>
                    <a:pt x="680466" y="58801"/>
                  </a:lnTo>
                  <a:lnTo>
                    <a:pt x="699516" y="58801"/>
                  </a:lnTo>
                  <a:lnTo>
                    <a:pt x="699516" y="640715"/>
                  </a:lnTo>
                  <a:lnTo>
                    <a:pt x="680466" y="640715"/>
                  </a:lnTo>
                  <a:lnTo>
                    <a:pt x="699516" y="640715"/>
                  </a:lnTo>
                  <a:cubicBezTo>
                    <a:pt x="699516" y="673100"/>
                    <a:pt x="673227" y="699516"/>
                    <a:pt x="640715" y="699516"/>
                  </a:cubicBezTo>
                  <a:lnTo>
                    <a:pt x="640715" y="680466"/>
                  </a:lnTo>
                  <a:lnTo>
                    <a:pt x="640715" y="699516"/>
                  </a:lnTo>
                  <a:lnTo>
                    <a:pt x="58801" y="699516"/>
                  </a:lnTo>
                  <a:lnTo>
                    <a:pt x="58801" y="680466"/>
                  </a:lnTo>
                  <a:lnTo>
                    <a:pt x="58801" y="699516"/>
                  </a:lnTo>
                  <a:cubicBezTo>
                    <a:pt x="26289" y="699516"/>
                    <a:pt x="0" y="673227"/>
                    <a:pt x="0" y="640715"/>
                  </a:cubicBezTo>
                  <a:lnTo>
                    <a:pt x="0" y="58801"/>
                  </a:lnTo>
                  <a:lnTo>
                    <a:pt x="19050" y="58801"/>
                  </a:lnTo>
                  <a:lnTo>
                    <a:pt x="0" y="58801"/>
                  </a:lnTo>
                  <a:moveTo>
                    <a:pt x="38100" y="58801"/>
                  </a:moveTo>
                  <a:lnTo>
                    <a:pt x="38100" y="640715"/>
                  </a:lnTo>
                  <a:lnTo>
                    <a:pt x="19050" y="640715"/>
                  </a:lnTo>
                  <a:lnTo>
                    <a:pt x="38100" y="640715"/>
                  </a:lnTo>
                  <a:cubicBezTo>
                    <a:pt x="38100" y="652145"/>
                    <a:pt x="47371" y="661416"/>
                    <a:pt x="58801" y="661416"/>
                  </a:cubicBezTo>
                  <a:lnTo>
                    <a:pt x="640715" y="661416"/>
                  </a:lnTo>
                  <a:cubicBezTo>
                    <a:pt x="652145" y="661416"/>
                    <a:pt x="661416" y="652145"/>
                    <a:pt x="661416" y="640715"/>
                  </a:cubicBezTo>
                  <a:lnTo>
                    <a:pt x="661416" y="58801"/>
                  </a:lnTo>
                  <a:cubicBezTo>
                    <a:pt x="661416" y="47371"/>
                    <a:pt x="652145" y="38100"/>
                    <a:pt x="640715" y="38100"/>
                  </a:cubicBezTo>
                  <a:lnTo>
                    <a:pt x="58801" y="38100"/>
                  </a:lnTo>
                  <a:lnTo>
                    <a:pt x="58801" y="19050"/>
                  </a:lnTo>
                  <a:lnTo>
                    <a:pt x="58801" y="38100"/>
                  </a:lnTo>
                  <a:cubicBezTo>
                    <a:pt x="47371" y="38100"/>
                    <a:pt x="38100" y="47371"/>
                    <a:pt x="38100" y="58801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54" id="54" descr="preencoded.png"/>
          <p:cNvSpPr/>
          <p:nvPr/>
        </p:nvSpPr>
        <p:spPr>
          <a:xfrm flipH="false" flipV="false" rot="0">
            <a:off x="9020023" y="8736587"/>
            <a:ext cx="247945" cy="247945"/>
          </a:xfrm>
          <a:custGeom>
            <a:avLst/>
            <a:gdLst/>
            <a:ahLst/>
            <a:cxnLst/>
            <a:rect r="r" b="b" t="t" l="l"/>
            <a:pathLst>
              <a:path h="247945" w="247945">
                <a:moveTo>
                  <a:pt x="0" y="0"/>
                </a:moveTo>
                <a:lnTo>
                  <a:pt x="247945" y="0"/>
                </a:lnTo>
                <a:lnTo>
                  <a:pt x="247945" y="247945"/>
                </a:lnTo>
                <a:lnTo>
                  <a:pt x="0" y="2479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0727" y="602161"/>
            <a:ext cx="7755579" cy="513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30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Behind the Scenes: Tech and Intelligence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4570" y="1714602"/>
            <a:ext cx="1744861" cy="373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 Tech Stack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4570" y="2445325"/>
            <a:ext cx="8179441" cy="1031377"/>
            <a:chOff x="0" y="0"/>
            <a:chExt cx="10905922" cy="13751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0880472" cy="1349756"/>
            </a:xfrm>
            <a:custGeom>
              <a:avLst/>
              <a:gdLst/>
              <a:ahLst/>
              <a:cxnLst/>
              <a:rect r="r" b="b" t="t" l="l"/>
              <a:pathLst>
                <a:path h="1349756" w="10880472">
                  <a:moveTo>
                    <a:pt x="0" y="31623"/>
                  </a:moveTo>
                  <a:cubicBezTo>
                    <a:pt x="0" y="14097"/>
                    <a:pt x="14351" y="0"/>
                    <a:pt x="32131" y="0"/>
                  </a:cubicBezTo>
                  <a:lnTo>
                    <a:pt x="10848340" y="0"/>
                  </a:lnTo>
                  <a:cubicBezTo>
                    <a:pt x="10866120" y="0"/>
                    <a:pt x="10880472" y="14097"/>
                    <a:pt x="10880472" y="31623"/>
                  </a:cubicBezTo>
                  <a:lnTo>
                    <a:pt x="10880472" y="1318133"/>
                  </a:lnTo>
                  <a:cubicBezTo>
                    <a:pt x="10880472" y="1335659"/>
                    <a:pt x="10866120" y="1349756"/>
                    <a:pt x="10848340" y="1349756"/>
                  </a:cubicBezTo>
                  <a:lnTo>
                    <a:pt x="32131" y="1349756"/>
                  </a:lnTo>
                  <a:cubicBezTo>
                    <a:pt x="14351" y="1349756"/>
                    <a:pt x="0" y="1335659"/>
                    <a:pt x="0" y="131813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05872" cy="1375156"/>
            </a:xfrm>
            <a:custGeom>
              <a:avLst/>
              <a:gdLst/>
              <a:ahLst/>
              <a:cxnLst/>
              <a:rect r="r" b="b" t="t" l="l"/>
              <a:pathLst>
                <a:path h="1375156" w="10905872">
                  <a:moveTo>
                    <a:pt x="0" y="44323"/>
                  </a:moveTo>
                  <a:cubicBezTo>
                    <a:pt x="0" y="19685"/>
                    <a:pt x="20320" y="0"/>
                    <a:pt x="44831" y="0"/>
                  </a:cubicBezTo>
                  <a:lnTo>
                    <a:pt x="10861040" y="0"/>
                  </a:lnTo>
                  <a:lnTo>
                    <a:pt x="10861040" y="12700"/>
                  </a:lnTo>
                  <a:lnTo>
                    <a:pt x="10861040" y="0"/>
                  </a:lnTo>
                  <a:cubicBezTo>
                    <a:pt x="10885551" y="0"/>
                    <a:pt x="10905872" y="19685"/>
                    <a:pt x="10905872" y="44323"/>
                  </a:cubicBezTo>
                  <a:lnTo>
                    <a:pt x="10893172" y="44323"/>
                  </a:lnTo>
                  <a:lnTo>
                    <a:pt x="10905872" y="44323"/>
                  </a:lnTo>
                  <a:lnTo>
                    <a:pt x="10905872" y="1330833"/>
                  </a:lnTo>
                  <a:lnTo>
                    <a:pt x="10893172" y="1330833"/>
                  </a:lnTo>
                  <a:lnTo>
                    <a:pt x="10905872" y="1330833"/>
                  </a:lnTo>
                  <a:cubicBezTo>
                    <a:pt x="10905872" y="1355471"/>
                    <a:pt x="10885551" y="1375156"/>
                    <a:pt x="10861040" y="1375156"/>
                  </a:cubicBezTo>
                  <a:lnTo>
                    <a:pt x="10861040" y="1362456"/>
                  </a:lnTo>
                  <a:lnTo>
                    <a:pt x="10861040" y="1375156"/>
                  </a:lnTo>
                  <a:lnTo>
                    <a:pt x="44831" y="1375156"/>
                  </a:lnTo>
                  <a:lnTo>
                    <a:pt x="44831" y="1362456"/>
                  </a:lnTo>
                  <a:lnTo>
                    <a:pt x="44831" y="1375156"/>
                  </a:lnTo>
                  <a:cubicBezTo>
                    <a:pt x="20320" y="1375156"/>
                    <a:pt x="0" y="1355471"/>
                    <a:pt x="0" y="1330833"/>
                  </a:cubicBezTo>
                  <a:lnTo>
                    <a:pt x="0" y="44323"/>
                  </a:lnTo>
                  <a:lnTo>
                    <a:pt x="12700" y="44323"/>
                  </a:lnTo>
                  <a:lnTo>
                    <a:pt x="0" y="44323"/>
                  </a:lnTo>
                  <a:moveTo>
                    <a:pt x="25400" y="44323"/>
                  </a:moveTo>
                  <a:lnTo>
                    <a:pt x="25400" y="1330833"/>
                  </a:lnTo>
                  <a:lnTo>
                    <a:pt x="12700" y="1330833"/>
                  </a:lnTo>
                  <a:lnTo>
                    <a:pt x="25400" y="1330833"/>
                  </a:lnTo>
                  <a:cubicBezTo>
                    <a:pt x="25400" y="1341120"/>
                    <a:pt x="33909" y="1349756"/>
                    <a:pt x="44831" y="1349756"/>
                  </a:cubicBezTo>
                  <a:lnTo>
                    <a:pt x="10861040" y="1349756"/>
                  </a:lnTo>
                  <a:cubicBezTo>
                    <a:pt x="10871962" y="1349756"/>
                    <a:pt x="10880472" y="1341120"/>
                    <a:pt x="10880472" y="1330833"/>
                  </a:cubicBezTo>
                  <a:lnTo>
                    <a:pt x="10880472" y="44323"/>
                  </a:lnTo>
                  <a:cubicBezTo>
                    <a:pt x="10880472" y="34036"/>
                    <a:pt x="10871962" y="25400"/>
                    <a:pt x="10861040" y="25400"/>
                  </a:cubicBezTo>
                  <a:lnTo>
                    <a:pt x="44831" y="25400"/>
                  </a:lnTo>
                  <a:lnTo>
                    <a:pt x="44831" y="12700"/>
                  </a:lnTo>
                  <a:lnTo>
                    <a:pt x="44831" y="25400"/>
                  </a:lnTo>
                  <a:cubicBezTo>
                    <a:pt x="33909" y="25400"/>
                    <a:pt x="25400" y="34036"/>
                    <a:pt x="25400" y="44323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81193" y="2612898"/>
            <a:ext cx="1127522" cy="319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99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1193" y="2970390"/>
            <a:ext cx="7806185" cy="31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</a:pPr>
            <a:r>
              <a:rPr lang="en-US" sz="16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React, Tailwind CSS, Recharts for dynamic and intuitive user interfaces.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78791" y="4016131"/>
            <a:ext cx="8179441" cy="1031377"/>
            <a:chOff x="0" y="0"/>
            <a:chExt cx="10905922" cy="13751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0880472" cy="1349756"/>
            </a:xfrm>
            <a:custGeom>
              <a:avLst/>
              <a:gdLst/>
              <a:ahLst/>
              <a:cxnLst/>
              <a:rect r="r" b="b" t="t" l="l"/>
              <a:pathLst>
                <a:path h="1349756" w="10880472">
                  <a:moveTo>
                    <a:pt x="0" y="31623"/>
                  </a:moveTo>
                  <a:cubicBezTo>
                    <a:pt x="0" y="14097"/>
                    <a:pt x="14351" y="0"/>
                    <a:pt x="32131" y="0"/>
                  </a:cubicBezTo>
                  <a:lnTo>
                    <a:pt x="10848340" y="0"/>
                  </a:lnTo>
                  <a:cubicBezTo>
                    <a:pt x="10866120" y="0"/>
                    <a:pt x="10880472" y="14097"/>
                    <a:pt x="10880472" y="31623"/>
                  </a:cubicBezTo>
                  <a:lnTo>
                    <a:pt x="10880472" y="1318133"/>
                  </a:lnTo>
                  <a:cubicBezTo>
                    <a:pt x="10880472" y="1335659"/>
                    <a:pt x="10866120" y="1349756"/>
                    <a:pt x="10848340" y="1349756"/>
                  </a:cubicBezTo>
                  <a:lnTo>
                    <a:pt x="32131" y="1349756"/>
                  </a:lnTo>
                  <a:cubicBezTo>
                    <a:pt x="14351" y="1349756"/>
                    <a:pt x="0" y="1335659"/>
                    <a:pt x="0" y="131813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05872" cy="1375156"/>
            </a:xfrm>
            <a:custGeom>
              <a:avLst/>
              <a:gdLst/>
              <a:ahLst/>
              <a:cxnLst/>
              <a:rect r="r" b="b" t="t" l="l"/>
              <a:pathLst>
                <a:path h="1375156" w="10905872">
                  <a:moveTo>
                    <a:pt x="0" y="44323"/>
                  </a:moveTo>
                  <a:cubicBezTo>
                    <a:pt x="0" y="19685"/>
                    <a:pt x="20320" y="0"/>
                    <a:pt x="44831" y="0"/>
                  </a:cubicBezTo>
                  <a:lnTo>
                    <a:pt x="10861040" y="0"/>
                  </a:lnTo>
                  <a:lnTo>
                    <a:pt x="10861040" y="12700"/>
                  </a:lnTo>
                  <a:lnTo>
                    <a:pt x="10861040" y="0"/>
                  </a:lnTo>
                  <a:cubicBezTo>
                    <a:pt x="10885551" y="0"/>
                    <a:pt x="10905872" y="19685"/>
                    <a:pt x="10905872" y="44323"/>
                  </a:cubicBezTo>
                  <a:lnTo>
                    <a:pt x="10893172" y="44323"/>
                  </a:lnTo>
                  <a:lnTo>
                    <a:pt x="10905872" y="44323"/>
                  </a:lnTo>
                  <a:lnTo>
                    <a:pt x="10905872" y="1330833"/>
                  </a:lnTo>
                  <a:lnTo>
                    <a:pt x="10893172" y="1330833"/>
                  </a:lnTo>
                  <a:lnTo>
                    <a:pt x="10905872" y="1330833"/>
                  </a:lnTo>
                  <a:cubicBezTo>
                    <a:pt x="10905872" y="1355471"/>
                    <a:pt x="10885551" y="1375156"/>
                    <a:pt x="10861040" y="1375156"/>
                  </a:cubicBezTo>
                  <a:lnTo>
                    <a:pt x="10861040" y="1362456"/>
                  </a:lnTo>
                  <a:lnTo>
                    <a:pt x="10861040" y="1375156"/>
                  </a:lnTo>
                  <a:lnTo>
                    <a:pt x="44831" y="1375156"/>
                  </a:lnTo>
                  <a:lnTo>
                    <a:pt x="44831" y="1362456"/>
                  </a:lnTo>
                  <a:lnTo>
                    <a:pt x="44831" y="1375156"/>
                  </a:lnTo>
                  <a:cubicBezTo>
                    <a:pt x="20320" y="1375156"/>
                    <a:pt x="0" y="1355471"/>
                    <a:pt x="0" y="1330833"/>
                  </a:cubicBezTo>
                  <a:lnTo>
                    <a:pt x="0" y="44323"/>
                  </a:lnTo>
                  <a:lnTo>
                    <a:pt x="12700" y="44323"/>
                  </a:lnTo>
                  <a:lnTo>
                    <a:pt x="0" y="44323"/>
                  </a:lnTo>
                  <a:moveTo>
                    <a:pt x="25400" y="44323"/>
                  </a:moveTo>
                  <a:lnTo>
                    <a:pt x="25400" y="1330833"/>
                  </a:lnTo>
                  <a:lnTo>
                    <a:pt x="12700" y="1330833"/>
                  </a:lnTo>
                  <a:lnTo>
                    <a:pt x="25400" y="1330833"/>
                  </a:lnTo>
                  <a:cubicBezTo>
                    <a:pt x="25400" y="1341120"/>
                    <a:pt x="33909" y="1349756"/>
                    <a:pt x="44831" y="1349756"/>
                  </a:cubicBezTo>
                  <a:lnTo>
                    <a:pt x="10861040" y="1349756"/>
                  </a:lnTo>
                  <a:cubicBezTo>
                    <a:pt x="10871962" y="1349756"/>
                    <a:pt x="10880472" y="1341120"/>
                    <a:pt x="10880472" y="1330833"/>
                  </a:cubicBezTo>
                  <a:lnTo>
                    <a:pt x="10880472" y="44323"/>
                  </a:lnTo>
                  <a:cubicBezTo>
                    <a:pt x="10880472" y="34036"/>
                    <a:pt x="10871962" y="25400"/>
                    <a:pt x="10861040" y="25400"/>
                  </a:cubicBezTo>
                  <a:lnTo>
                    <a:pt x="44831" y="25400"/>
                  </a:lnTo>
                  <a:lnTo>
                    <a:pt x="44831" y="12700"/>
                  </a:lnTo>
                  <a:lnTo>
                    <a:pt x="44831" y="25400"/>
                  </a:lnTo>
                  <a:cubicBezTo>
                    <a:pt x="33909" y="25400"/>
                    <a:pt x="25400" y="34036"/>
                    <a:pt x="25400" y="44323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65415" y="4183704"/>
            <a:ext cx="967532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79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415" y="4541196"/>
            <a:ext cx="7806185" cy="289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6"/>
              </a:lnSpc>
            </a:pPr>
            <a:r>
              <a:rPr lang="en-US" sz="14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Python, Django, Django REST Framework ensuring scalable and secure operations.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8787" y="5604286"/>
            <a:ext cx="8179441" cy="1031377"/>
            <a:chOff x="0" y="0"/>
            <a:chExt cx="10905922" cy="13751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00" y="12700"/>
              <a:ext cx="10880472" cy="1349756"/>
            </a:xfrm>
            <a:custGeom>
              <a:avLst/>
              <a:gdLst/>
              <a:ahLst/>
              <a:cxnLst/>
              <a:rect r="r" b="b" t="t" l="l"/>
              <a:pathLst>
                <a:path h="1349756" w="10880472">
                  <a:moveTo>
                    <a:pt x="0" y="31623"/>
                  </a:moveTo>
                  <a:cubicBezTo>
                    <a:pt x="0" y="14097"/>
                    <a:pt x="14351" y="0"/>
                    <a:pt x="32131" y="0"/>
                  </a:cubicBezTo>
                  <a:lnTo>
                    <a:pt x="10848340" y="0"/>
                  </a:lnTo>
                  <a:cubicBezTo>
                    <a:pt x="10866120" y="0"/>
                    <a:pt x="10880472" y="14097"/>
                    <a:pt x="10880472" y="31623"/>
                  </a:cubicBezTo>
                  <a:lnTo>
                    <a:pt x="10880472" y="1318133"/>
                  </a:lnTo>
                  <a:cubicBezTo>
                    <a:pt x="10880472" y="1335659"/>
                    <a:pt x="10866120" y="1349756"/>
                    <a:pt x="10848340" y="1349756"/>
                  </a:cubicBezTo>
                  <a:lnTo>
                    <a:pt x="32131" y="1349756"/>
                  </a:lnTo>
                  <a:cubicBezTo>
                    <a:pt x="14351" y="1349756"/>
                    <a:pt x="0" y="1335659"/>
                    <a:pt x="0" y="131813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05872" cy="1375156"/>
            </a:xfrm>
            <a:custGeom>
              <a:avLst/>
              <a:gdLst/>
              <a:ahLst/>
              <a:cxnLst/>
              <a:rect r="r" b="b" t="t" l="l"/>
              <a:pathLst>
                <a:path h="1375156" w="10905872">
                  <a:moveTo>
                    <a:pt x="0" y="44323"/>
                  </a:moveTo>
                  <a:cubicBezTo>
                    <a:pt x="0" y="19685"/>
                    <a:pt x="20320" y="0"/>
                    <a:pt x="44831" y="0"/>
                  </a:cubicBezTo>
                  <a:lnTo>
                    <a:pt x="10861040" y="0"/>
                  </a:lnTo>
                  <a:lnTo>
                    <a:pt x="10861040" y="12700"/>
                  </a:lnTo>
                  <a:lnTo>
                    <a:pt x="10861040" y="0"/>
                  </a:lnTo>
                  <a:cubicBezTo>
                    <a:pt x="10885551" y="0"/>
                    <a:pt x="10905872" y="19685"/>
                    <a:pt x="10905872" y="44323"/>
                  </a:cubicBezTo>
                  <a:lnTo>
                    <a:pt x="10893172" y="44323"/>
                  </a:lnTo>
                  <a:lnTo>
                    <a:pt x="10905872" y="44323"/>
                  </a:lnTo>
                  <a:lnTo>
                    <a:pt x="10905872" y="1330833"/>
                  </a:lnTo>
                  <a:lnTo>
                    <a:pt x="10893172" y="1330833"/>
                  </a:lnTo>
                  <a:lnTo>
                    <a:pt x="10905872" y="1330833"/>
                  </a:lnTo>
                  <a:cubicBezTo>
                    <a:pt x="10905872" y="1355471"/>
                    <a:pt x="10885551" y="1375156"/>
                    <a:pt x="10861040" y="1375156"/>
                  </a:cubicBezTo>
                  <a:lnTo>
                    <a:pt x="10861040" y="1362456"/>
                  </a:lnTo>
                  <a:lnTo>
                    <a:pt x="10861040" y="1375156"/>
                  </a:lnTo>
                  <a:lnTo>
                    <a:pt x="44831" y="1375156"/>
                  </a:lnTo>
                  <a:lnTo>
                    <a:pt x="44831" y="1362456"/>
                  </a:lnTo>
                  <a:lnTo>
                    <a:pt x="44831" y="1375156"/>
                  </a:lnTo>
                  <a:cubicBezTo>
                    <a:pt x="20320" y="1375156"/>
                    <a:pt x="0" y="1355471"/>
                    <a:pt x="0" y="1330833"/>
                  </a:cubicBezTo>
                  <a:lnTo>
                    <a:pt x="0" y="44323"/>
                  </a:lnTo>
                  <a:lnTo>
                    <a:pt x="12700" y="44323"/>
                  </a:lnTo>
                  <a:lnTo>
                    <a:pt x="0" y="44323"/>
                  </a:lnTo>
                  <a:moveTo>
                    <a:pt x="25400" y="44323"/>
                  </a:moveTo>
                  <a:lnTo>
                    <a:pt x="25400" y="1330833"/>
                  </a:lnTo>
                  <a:lnTo>
                    <a:pt x="12700" y="1330833"/>
                  </a:lnTo>
                  <a:lnTo>
                    <a:pt x="25400" y="1330833"/>
                  </a:lnTo>
                  <a:cubicBezTo>
                    <a:pt x="25400" y="1341120"/>
                    <a:pt x="33909" y="1349756"/>
                    <a:pt x="44831" y="1349756"/>
                  </a:cubicBezTo>
                  <a:lnTo>
                    <a:pt x="10861040" y="1349756"/>
                  </a:lnTo>
                  <a:cubicBezTo>
                    <a:pt x="10871962" y="1349756"/>
                    <a:pt x="10880472" y="1341120"/>
                    <a:pt x="10880472" y="1330833"/>
                  </a:cubicBezTo>
                  <a:lnTo>
                    <a:pt x="10880472" y="44323"/>
                  </a:lnTo>
                  <a:cubicBezTo>
                    <a:pt x="10880472" y="34036"/>
                    <a:pt x="10871962" y="25400"/>
                    <a:pt x="10861040" y="25400"/>
                  </a:cubicBezTo>
                  <a:lnTo>
                    <a:pt x="44831" y="25400"/>
                  </a:lnTo>
                  <a:lnTo>
                    <a:pt x="44831" y="12700"/>
                  </a:lnTo>
                  <a:lnTo>
                    <a:pt x="44831" y="25400"/>
                  </a:lnTo>
                  <a:cubicBezTo>
                    <a:pt x="33909" y="25400"/>
                    <a:pt x="25400" y="34036"/>
                    <a:pt x="25400" y="44323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65410" y="5771860"/>
            <a:ext cx="1653034" cy="30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89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Database &amp;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5410" y="6129352"/>
            <a:ext cx="7806185" cy="303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0"/>
              </a:lnSpc>
            </a:pPr>
            <a:r>
              <a:rPr lang="en-US" sz="15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PostgreSQL for data management and Groq Llama for powerful AI processing.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94570" y="7337679"/>
            <a:ext cx="8179441" cy="1031377"/>
            <a:chOff x="0" y="0"/>
            <a:chExt cx="10905922" cy="13751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2700"/>
              <a:ext cx="10880472" cy="1349756"/>
            </a:xfrm>
            <a:custGeom>
              <a:avLst/>
              <a:gdLst/>
              <a:ahLst/>
              <a:cxnLst/>
              <a:rect r="r" b="b" t="t" l="l"/>
              <a:pathLst>
                <a:path h="1349756" w="10880472">
                  <a:moveTo>
                    <a:pt x="0" y="31623"/>
                  </a:moveTo>
                  <a:cubicBezTo>
                    <a:pt x="0" y="14097"/>
                    <a:pt x="14351" y="0"/>
                    <a:pt x="32131" y="0"/>
                  </a:cubicBezTo>
                  <a:lnTo>
                    <a:pt x="10848340" y="0"/>
                  </a:lnTo>
                  <a:cubicBezTo>
                    <a:pt x="10866120" y="0"/>
                    <a:pt x="10880472" y="14097"/>
                    <a:pt x="10880472" y="31623"/>
                  </a:cubicBezTo>
                  <a:lnTo>
                    <a:pt x="10880472" y="1318133"/>
                  </a:lnTo>
                  <a:cubicBezTo>
                    <a:pt x="10880472" y="1335659"/>
                    <a:pt x="10866120" y="1349756"/>
                    <a:pt x="10848340" y="1349756"/>
                  </a:cubicBezTo>
                  <a:lnTo>
                    <a:pt x="32131" y="1349756"/>
                  </a:lnTo>
                  <a:cubicBezTo>
                    <a:pt x="14351" y="1349756"/>
                    <a:pt x="0" y="1335659"/>
                    <a:pt x="0" y="131813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05872" cy="1375156"/>
            </a:xfrm>
            <a:custGeom>
              <a:avLst/>
              <a:gdLst/>
              <a:ahLst/>
              <a:cxnLst/>
              <a:rect r="r" b="b" t="t" l="l"/>
              <a:pathLst>
                <a:path h="1375156" w="10905872">
                  <a:moveTo>
                    <a:pt x="0" y="44323"/>
                  </a:moveTo>
                  <a:cubicBezTo>
                    <a:pt x="0" y="19685"/>
                    <a:pt x="20320" y="0"/>
                    <a:pt x="44831" y="0"/>
                  </a:cubicBezTo>
                  <a:lnTo>
                    <a:pt x="10861040" y="0"/>
                  </a:lnTo>
                  <a:lnTo>
                    <a:pt x="10861040" y="12700"/>
                  </a:lnTo>
                  <a:lnTo>
                    <a:pt x="10861040" y="0"/>
                  </a:lnTo>
                  <a:cubicBezTo>
                    <a:pt x="10885551" y="0"/>
                    <a:pt x="10905872" y="19685"/>
                    <a:pt x="10905872" y="44323"/>
                  </a:cubicBezTo>
                  <a:lnTo>
                    <a:pt x="10893172" y="44323"/>
                  </a:lnTo>
                  <a:lnTo>
                    <a:pt x="10905872" y="44323"/>
                  </a:lnTo>
                  <a:lnTo>
                    <a:pt x="10905872" y="1330833"/>
                  </a:lnTo>
                  <a:lnTo>
                    <a:pt x="10893172" y="1330833"/>
                  </a:lnTo>
                  <a:lnTo>
                    <a:pt x="10905872" y="1330833"/>
                  </a:lnTo>
                  <a:cubicBezTo>
                    <a:pt x="10905872" y="1355471"/>
                    <a:pt x="10885551" y="1375156"/>
                    <a:pt x="10861040" y="1375156"/>
                  </a:cubicBezTo>
                  <a:lnTo>
                    <a:pt x="10861040" y="1362456"/>
                  </a:lnTo>
                  <a:lnTo>
                    <a:pt x="10861040" y="1375156"/>
                  </a:lnTo>
                  <a:lnTo>
                    <a:pt x="44831" y="1375156"/>
                  </a:lnTo>
                  <a:lnTo>
                    <a:pt x="44831" y="1362456"/>
                  </a:lnTo>
                  <a:lnTo>
                    <a:pt x="44831" y="1375156"/>
                  </a:lnTo>
                  <a:cubicBezTo>
                    <a:pt x="20320" y="1375156"/>
                    <a:pt x="0" y="1355471"/>
                    <a:pt x="0" y="1330833"/>
                  </a:cubicBezTo>
                  <a:lnTo>
                    <a:pt x="0" y="44323"/>
                  </a:lnTo>
                  <a:lnTo>
                    <a:pt x="12700" y="44323"/>
                  </a:lnTo>
                  <a:lnTo>
                    <a:pt x="0" y="44323"/>
                  </a:lnTo>
                  <a:moveTo>
                    <a:pt x="25400" y="44323"/>
                  </a:moveTo>
                  <a:lnTo>
                    <a:pt x="25400" y="1330833"/>
                  </a:lnTo>
                  <a:lnTo>
                    <a:pt x="12700" y="1330833"/>
                  </a:lnTo>
                  <a:lnTo>
                    <a:pt x="25400" y="1330833"/>
                  </a:lnTo>
                  <a:cubicBezTo>
                    <a:pt x="25400" y="1341120"/>
                    <a:pt x="33909" y="1349756"/>
                    <a:pt x="44831" y="1349756"/>
                  </a:cubicBezTo>
                  <a:lnTo>
                    <a:pt x="10861040" y="1349756"/>
                  </a:lnTo>
                  <a:cubicBezTo>
                    <a:pt x="10871962" y="1349756"/>
                    <a:pt x="10880472" y="1341120"/>
                    <a:pt x="10880472" y="1330833"/>
                  </a:cubicBezTo>
                  <a:lnTo>
                    <a:pt x="10880472" y="44323"/>
                  </a:lnTo>
                  <a:cubicBezTo>
                    <a:pt x="10880472" y="34036"/>
                    <a:pt x="10871962" y="25400"/>
                    <a:pt x="10861040" y="25400"/>
                  </a:cubicBezTo>
                  <a:lnTo>
                    <a:pt x="44831" y="25400"/>
                  </a:lnTo>
                  <a:lnTo>
                    <a:pt x="44831" y="12700"/>
                  </a:lnTo>
                  <a:lnTo>
                    <a:pt x="44831" y="25400"/>
                  </a:lnTo>
                  <a:cubicBezTo>
                    <a:pt x="33909" y="25400"/>
                    <a:pt x="25400" y="34036"/>
                    <a:pt x="25400" y="44323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781193" y="7375779"/>
            <a:ext cx="1018729" cy="34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2"/>
              </a:lnSpc>
            </a:pPr>
            <a:r>
              <a:rPr lang="en-US" sz="2099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Reports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1193" y="7681770"/>
            <a:ext cx="7806185" cy="34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17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Integrated PDF/HTML generation for comprehensive reporting.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59295" y="1714602"/>
            <a:ext cx="5052117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Autonomous Agentic Intelligence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46406" y="2425386"/>
            <a:ext cx="7538015" cy="542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648" indent="-265824" lvl="1">
              <a:lnSpc>
                <a:spcPts val="3939"/>
              </a:lnSpc>
              <a:buFont typeface="Arial"/>
              <a:buChar char="•"/>
            </a:pPr>
            <a:r>
              <a:rPr lang="en-US" b="true" sz="24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Our system leverages autonom</a:t>
            </a:r>
            <a:r>
              <a:rPr lang="en-US" b="true" sz="24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ous intelligence to:</a:t>
            </a:r>
          </a:p>
          <a:p>
            <a:pPr algn="l" marL="531648" indent="-265824" lvl="1">
              <a:lnSpc>
                <a:spcPts val="3939"/>
              </a:lnSpc>
              <a:buFont typeface="Arial"/>
              <a:buChar char="•"/>
            </a:pPr>
            <a:r>
              <a:rPr lang="en-US" b="true" sz="24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Independently analyze ESG data and detect gaps.</a:t>
            </a:r>
          </a:p>
          <a:p>
            <a:pPr algn="l" marL="531648" indent="-265824" lvl="1">
              <a:lnSpc>
                <a:spcPts val="3939"/>
              </a:lnSpc>
              <a:buFont typeface="Arial"/>
              <a:buChar char="•"/>
            </a:pPr>
            <a:r>
              <a:rPr lang="en-US" b="true" sz="24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 recommendations and roadmaps automatically.</a:t>
            </a:r>
          </a:p>
          <a:p>
            <a:pPr algn="l" marL="531648" indent="-265824" lvl="1">
              <a:lnSpc>
                <a:spcPts val="3939"/>
              </a:lnSpc>
              <a:buFont typeface="Arial"/>
              <a:buChar char="•"/>
            </a:pPr>
            <a:r>
              <a:rPr lang="en-US" b="true" sz="24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Guide users continuously from assessment to execution.</a:t>
            </a:r>
          </a:p>
          <a:p>
            <a:pPr algn="l">
              <a:lnSpc>
                <a:spcPts val="3939"/>
              </a:lnSpc>
            </a:pPr>
          </a:p>
          <a:p>
            <a:pPr algn="l">
              <a:lnSpc>
                <a:spcPts val="3939"/>
              </a:lnSpc>
            </a:pPr>
            <a:r>
              <a:rPr lang="en-US" b="true" sz="24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The AI assistant understands the current ESG state, progress, and crucial next actions.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085718" cy="5270925"/>
          </a:xfrm>
          <a:custGeom>
            <a:avLst/>
            <a:gdLst/>
            <a:ahLst/>
            <a:cxnLst/>
            <a:rect r="r" b="b" t="t" l="l"/>
            <a:pathLst>
              <a:path h="5270925" w="6085718">
                <a:moveTo>
                  <a:pt x="0" y="0"/>
                </a:moveTo>
                <a:lnTo>
                  <a:pt x="6085718" y="0"/>
                </a:lnTo>
                <a:lnTo>
                  <a:pt x="6085718" y="5270925"/>
                </a:lnTo>
                <a:lnTo>
                  <a:pt x="0" y="527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74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85718" y="0"/>
            <a:ext cx="6058535" cy="5270925"/>
          </a:xfrm>
          <a:custGeom>
            <a:avLst/>
            <a:gdLst/>
            <a:ahLst/>
            <a:cxnLst/>
            <a:rect r="r" b="b" t="t" l="l"/>
            <a:pathLst>
              <a:path h="5270925" w="6058535">
                <a:moveTo>
                  <a:pt x="0" y="0"/>
                </a:moveTo>
                <a:lnTo>
                  <a:pt x="6058535" y="0"/>
                </a:lnTo>
                <a:lnTo>
                  <a:pt x="6058535" y="5270925"/>
                </a:lnTo>
                <a:lnTo>
                  <a:pt x="0" y="5270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4253" y="0"/>
            <a:ext cx="6143747" cy="5270925"/>
          </a:xfrm>
          <a:custGeom>
            <a:avLst/>
            <a:gdLst/>
            <a:ahLst/>
            <a:cxnLst/>
            <a:rect r="r" b="b" t="t" l="l"/>
            <a:pathLst>
              <a:path h="5270925" w="6143747">
                <a:moveTo>
                  <a:pt x="0" y="0"/>
                </a:moveTo>
                <a:lnTo>
                  <a:pt x="6143747" y="0"/>
                </a:lnTo>
                <a:lnTo>
                  <a:pt x="6143747" y="5270925"/>
                </a:lnTo>
                <a:lnTo>
                  <a:pt x="0" y="5270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891" t="0" r="-5891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270925"/>
            <a:ext cx="5408167" cy="5016075"/>
          </a:xfrm>
          <a:custGeom>
            <a:avLst/>
            <a:gdLst/>
            <a:ahLst/>
            <a:cxnLst/>
            <a:rect r="r" b="b" t="t" l="l"/>
            <a:pathLst>
              <a:path h="5016075" w="5408167">
                <a:moveTo>
                  <a:pt x="0" y="0"/>
                </a:moveTo>
                <a:lnTo>
                  <a:pt x="5408167" y="0"/>
                </a:lnTo>
                <a:lnTo>
                  <a:pt x="5408167" y="5016075"/>
                </a:lnTo>
                <a:lnTo>
                  <a:pt x="0" y="5016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08167" y="5270925"/>
            <a:ext cx="5452255" cy="5016075"/>
          </a:xfrm>
          <a:custGeom>
            <a:avLst/>
            <a:gdLst/>
            <a:ahLst/>
            <a:cxnLst/>
            <a:rect r="r" b="b" t="t" l="l"/>
            <a:pathLst>
              <a:path h="5016075" w="5452255">
                <a:moveTo>
                  <a:pt x="0" y="0"/>
                </a:moveTo>
                <a:lnTo>
                  <a:pt x="5452255" y="0"/>
                </a:lnTo>
                <a:lnTo>
                  <a:pt x="5452255" y="5016075"/>
                </a:lnTo>
                <a:lnTo>
                  <a:pt x="0" y="5016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60422" y="5270925"/>
            <a:ext cx="7427578" cy="5016075"/>
          </a:xfrm>
          <a:custGeom>
            <a:avLst/>
            <a:gdLst/>
            <a:ahLst/>
            <a:cxnLst/>
            <a:rect r="r" b="b" t="t" l="l"/>
            <a:pathLst>
              <a:path h="5016075" w="7427578">
                <a:moveTo>
                  <a:pt x="0" y="0"/>
                </a:moveTo>
                <a:lnTo>
                  <a:pt x="7427578" y="0"/>
                </a:lnTo>
                <a:lnTo>
                  <a:pt x="7427578" y="5016075"/>
                </a:lnTo>
                <a:lnTo>
                  <a:pt x="0" y="5016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751" r="0" b="-2751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8666" y="749941"/>
            <a:ext cx="12467330" cy="6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Innovation &amp; Uniqueness: Differentiated for SMEs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666" y="1864223"/>
            <a:ext cx="8049368" cy="2406853"/>
            <a:chOff x="0" y="0"/>
            <a:chExt cx="10732491" cy="32091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2516" cy="3209163"/>
            </a:xfrm>
            <a:custGeom>
              <a:avLst/>
              <a:gdLst/>
              <a:ahLst/>
              <a:cxnLst/>
              <a:rect r="r" b="b" t="t" l="l"/>
              <a:pathLst>
                <a:path h="3209163" w="10732516">
                  <a:moveTo>
                    <a:pt x="0" y="42418"/>
                  </a:moveTo>
                  <a:cubicBezTo>
                    <a:pt x="0" y="18923"/>
                    <a:pt x="18923" y="0"/>
                    <a:pt x="42418" y="0"/>
                  </a:cubicBezTo>
                  <a:lnTo>
                    <a:pt x="10690098" y="0"/>
                  </a:lnTo>
                  <a:cubicBezTo>
                    <a:pt x="10713466" y="0"/>
                    <a:pt x="10732516" y="18923"/>
                    <a:pt x="10732516" y="42418"/>
                  </a:cubicBezTo>
                  <a:lnTo>
                    <a:pt x="10732516" y="3166745"/>
                  </a:lnTo>
                  <a:cubicBezTo>
                    <a:pt x="10732516" y="3190113"/>
                    <a:pt x="10713593" y="3209163"/>
                    <a:pt x="10690098" y="3209163"/>
                  </a:cubicBezTo>
                  <a:lnTo>
                    <a:pt x="42418" y="3209163"/>
                  </a:lnTo>
                  <a:cubicBezTo>
                    <a:pt x="19050" y="3209163"/>
                    <a:pt x="0" y="3190240"/>
                    <a:pt x="0" y="31667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00445" y="2076002"/>
            <a:ext cx="635498" cy="635498"/>
            <a:chOff x="0" y="0"/>
            <a:chExt cx="847331" cy="8473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7344" cy="847344"/>
            </a:xfrm>
            <a:custGeom>
              <a:avLst/>
              <a:gdLst/>
              <a:ahLst/>
              <a:cxnLst/>
              <a:rect r="r" b="b" t="t" l="l"/>
              <a:pathLst>
                <a:path h="847344" w="847344">
                  <a:moveTo>
                    <a:pt x="0" y="423672"/>
                  </a:moveTo>
                  <a:cubicBezTo>
                    <a:pt x="0" y="189738"/>
                    <a:pt x="189738" y="0"/>
                    <a:pt x="423672" y="0"/>
                  </a:cubicBezTo>
                  <a:cubicBezTo>
                    <a:pt x="657606" y="0"/>
                    <a:pt x="847344" y="189738"/>
                    <a:pt x="847344" y="423672"/>
                  </a:cubicBezTo>
                  <a:cubicBezTo>
                    <a:pt x="847344" y="657606"/>
                    <a:pt x="657606" y="847344"/>
                    <a:pt x="423672" y="847344"/>
                  </a:cubicBezTo>
                  <a:cubicBezTo>
                    <a:pt x="189738" y="847344"/>
                    <a:pt x="0" y="657606"/>
                    <a:pt x="0" y="42367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75172" y="2250729"/>
            <a:ext cx="285902" cy="285902"/>
          </a:xfrm>
          <a:custGeom>
            <a:avLst/>
            <a:gdLst/>
            <a:ahLst/>
            <a:cxnLst/>
            <a:rect r="r" b="b" t="t" l="l"/>
            <a:pathLst>
              <a:path h="285902" w="285902">
                <a:moveTo>
                  <a:pt x="0" y="0"/>
                </a:moveTo>
                <a:lnTo>
                  <a:pt x="285902" y="0"/>
                </a:lnTo>
                <a:lnTo>
                  <a:pt x="285902" y="285902"/>
                </a:lnTo>
                <a:lnTo>
                  <a:pt x="0" y="285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065" r="0" b="-806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00445" y="2913755"/>
            <a:ext cx="2648245" cy="34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SME-Centric Design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0445" y="3305023"/>
            <a:ext cx="7625801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Built specifically for the unique needs of small and medium-sized enterprises, not large corporations.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49813" y="1864223"/>
            <a:ext cx="8049520" cy="2406853"/>
            <a:chOff x="0" y="0"/>
            <a:chExt cx="10732694" cy="32091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2770" cy="3209163"/>
            </a:xfrm>
            <a:custGeom>
              <a:avLst/>
              <a:gdLst/>
              <a:ahLst/>
              <a:cxnLst/>
              <a:rect r="r" b="b" t="t" l="l"/>
              <a:pathLst>
                <a:path h="3209163" w="10732770">
                  <a:moveTo>
                    <a:pt x="0" y="42418"/>
                  </a:moveTo>
                  <a:cubicBezTo>
                    <a:pt x="0" y="18923"/>
                    <a:pt x="18923" y="0"/>
                    <a:pt x="42418" y="0"/>
                  </a:cubicBezTo>
                  <a:lnTo>
                    <a:pt x="10690352" y="0"/>
                  </a:lnTo>
                  <a:cubicBezTo>
                    <a:pt x="10713720" y="0"/>
                    <a:pt x="10732770" y="18923"/>
                    <a:pt x="10732770" y="42418"/>
                  </a:cubicBezTo>
                  <a:lnTo>
                    <a:pt x="10732770" y="3166745"/>
                  </a:lnTo>
                  <a:cubicBezTo>
                    <a:pt x="10732770" y="3190113"/>
                    <a:pt x="10713847" y="3209163"/>
                    <a:pt x="10690352" y="3209163"/>
                  </a:cubicBezTo>
                  <a:lnTo>
                    <a:pt x="42418" y="3209163"/>
                  </a:lnTo>
                  <a:cubicBezTo>
                    <a:pt x="19050" y="3209163"/>
                    <a:pt x="0" y="3190240"/>
                    <a:pt x="0" y="31667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461602" y="2076002"/>
            <a:ext cx="635498" cy="635498"/>
            <a:chOff x="0" y="0"/>
            <a:chExt cx="847331" cy="8473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7344" cy="847344"/>
            </a:xfrm>
            <a:custGeom>
              <a:avLst/>
              <a:gdLst/>
              <a:ahLst/>
              <a:cxnLst/>
              <a:rect r="r" b="b" t="t" l="l"/>
              <a:pathLst>
                <a:path h="847344" w="847344">
                  <a:moveTo>
                    <a:pt x="0" y="423672"/>
                  </a:moveTo>
                  <a:cubicBezTo>
                    <a:pt x="0" y="189738"/>
                    <a:pt x="189738" y="0"/>
                    <a:pt x="423672" y="0"/>
                  </a:cubicBezTo>
                  <a:cubicBezTo>
                    <a:pt x="657606" y="0"/>
                    <a:pt x="847344" y="189738"/>
                    <a:pt x="847344" y="423672"/>
                  </a:cubicBezTo>
                  <a:cubicBezTo>
                    <a:pt x="847344" y="657606"/>
                    <a:pt x="657606" y="847344"/>
                    <a:pt x="423672" y="847344"/>
                  </a:cubicBezTo>
                  <a:cubicBezTo>
                    <a:pt x="189738" y="847344"/>
                    <a:pt x="0" y="657606"/>
                    <a:pt x="0" y="42367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636328" y="2250729"/>
            <a:ext cx="285902" cy="285902"/>
          </a:xfrm>
          <a:custGeom>
            <a:avLst/>
            <a:gdLst/>
            <a:ahLst/>
            <a:cxnLst/>
            <a:rect r="r" b="b" t="t" l="l"/>
            <a:pathLst>
              <a:path h="285902" w="285902">
                <a:moveTo>
                  <a:pt x="0" y="0"/>
                </a:moveTo>
                <a:lnTo>
                  <a:pt x="285903" y="0"/>
                </a:lnTo>
                <a:lnTo>
                  <a:pt x="285903" y="285902"/>
                </a:lnTo>
                <a:lnTo>
                  <a:pt x="0" y="2859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9353" t="0" r="-69353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461602" y="2913755"/>
            <a:ext cx="2648245" cy="34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Explainable Scoring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61602" y="3305023"/>
            <a:ext cx="7625953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ESG scoring is transparent and confidence-weighted, providing clarity and trust.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8666" y="4482856"/>
            <a:ext cx="8049368" cy="2406853"/>
            <a:chOff x="0" y="0"/>
            <a:chExt cx="10732491" cy="32091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32516" cy="3209163"/>
            </a:xfrm>
            <a:custGeom>
              <a:avLst/>
              <a:gdLst/>
              <a:ahLst/>
              <a:cxnLst/>
              <a:rect r="r" b="b" t="t" l="l"/>
              <a:pathLst>
                <a:path h="3209163" w="10732516">
                  <a:moveTo>
                    <a:pt x="0" y="42418"/>
                  </a:moveTo>
                  <a:cubicBezTo>
                    <a:pt x="0" y="18923"/>
                    <a:pt x="18923" y="0"/>
                    <a:pt x="42418" y="0"/>
                  </a:cubicBezTo>
                  <a:lnTo>
                    <a:pt x="10690098" y="0"/>
                  </a:lnTo>
                  <a:cubicBezTo>
                    <a:pt x="10713466" y="0"/>
                    <a:pt x="10732516" y="18923"/>
                    <a:pt x="10732516" y="42418"/>
                  </a:cubicBezTo>
                  <a:lnTo>
                    <a:pt x="10732516" y="3166745"/>
                  </a:lnTo>
                  <a:cubicBezTo>
                    <a:pt x="10732516" y="3190113"/>
                    <a:pt x="10713593" y="3209163"/>
                    <a:pt x="10690098" y="3209163"/>
                  </a:cubicBezTo>
                  <a:lnTo>
                    <a:pt x="42418" y="3209163"/>
                  </a:lnTo>
                  <a:cubicBezTo>
                    <a:pt x="19050" y="3209163"/>
                    <a:pt x="0" y="3190240"/>
                    <a:pt x="0" y="31667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00445" y="4694634"/>
            <a:ext cx="635498" cy="635498"/>
            <a:chOff x="0" y="0"/>
            <a:chExt cx="847331" cy="8473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47344" cy="847344"/>
            </a:xfrm>
            <a:custGeom>
              <a:avLst/>
              <a:gdLst/>
              <a:ahLst/>
              <a:cxnLst/>
              <a:rect r="r" b="b" t="t" l="l"/>
              <a:pathLst>
                <a:path h="847344" w="847344">
                  <a:moveTo>
                    <a:pt x="0" y="423672"/>
                  </a:moveTo>
                  <a:cubicBezTo>
                    <a:pt x="0" y="189738"/>
                    <a:pt x="189738" y="0"/>
                    <a:pt x="423672" y="0"/>
                  </a:cubicBezTo>
                  <a:cubicBezTo>
                    <a:pt x="657606" y="0"/>
                    <a:pt x="847344" y="189738"/>
                    <a:pt x="847344" y="423672"/>
                  </a:cubicBezTo>
                  <a:cubicBezTo>
                    <a:pt x="847344" y="657606"/>
                    <a:pt x="657606" y="847344"/>
                    <a:pt x="423672" y="847344"/>
                  </a:cubicBezTo>
                  <a:cubicBezTo>
                    <a:pt x="189738" y="847344"/>
                    <a:pt x="0" y="657606"/>
                    <a:pt x="0" y="42367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375172" y="4869361"/>
            <a:ext cx="285902" cy="285902"/>
          </a:xfrm>
          <a:custGeom>
            <a:avLst/>
            <a:gdLst/>
            <a:ahLst/>
            <a:cxnLst/>
            <a:rect r="r" b="b" t="t" l="l"/>
            <a:pathLst>
              <a:path h="285902" w="285902">
                <a:moveTo>
                  <a:pt x="0" y="0"/>
                </a:moveTo>
                <a:lnTo>
                  <a:pt x="285902" y="0"/>
                </a:lnTo>
                <a:lnTo>
                  <a:pt x="285902" y="285902"/>
                </a:lnTo>
                <a:lnTo>
                  <a:pt x="0" y="2859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24193" r="0" b="-2419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00445" y="5532387"/>
            <a:ext cx="3605365" cy="34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Integrated Carbon Analytics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0445" y="5923655"/>
            <a:ext cx="7625801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Seamlessly incorporates carbon footprint analysis for holistic environmental impact.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49813" y="4482856"/>
            <a:ext cx="8049520" cy="2406853"/>
            <a:chOff x="0" y="0"/>
            <a:chExt cx="10732694" cy="320913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2770" cy="3209163"/>
            </a:xfrm>
            <a:custGeom>
              <a:avLst/>
              <a:gdLst/>
              <a:ahLst/>
              <a:cxnLst/>
              <a:rect r="r" b="b" t="t" l="l"/>
              <a:pathLst>
                <a:path h="3209163" w="10732770">
                  <a:moveTo>
                    <a:pt x="0" y="42418"/>
                  </a:moveTo>
                  <a:cubicBezTo>
                    <a:pt x="0" y="18923"/>
                    <a:pt x="18923" y="0"/>
                    <a:pt x="42418" y="0"/>
                  </a:cubicBezTo>
                  <a:lnTo>
                    <a:pt x="10690352" y="0"/>
                  </a:lnTo>
                  <a:cubicBezTo>
                    <a:pt x="10713720" y="0"/>
                    <a:pt x="10732770" y="18923"/>
                    <a:pt x="10732770" y="42418"/>
                  </a:cubicBezTo>
                  <a:lnTo>
                    <a:pt x="10732770" y="3166745"/>
                  </a:lnTo>
                  <a:cubicBezTo>
                    <a:pt x="10732770" y="3190113"/>
                    <a:pt x="10713847" y="3209163"/>
                    <a:pt x="10690352" y="3209163"/>
                  </a:cubicBezTo>
                  <a:lnTo>
                    <a:pt x="42418" y="3209163"/>
                  </a:lnTo>
                  <a:cubicBezTo>
                    <a:pt x="19050" y="3209163"/>
                    <a:pt x="0" y="3190240"/>
                    <a:pt x="0" y="31667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461602" y="4694634"/>
            <a:ext cx="635498" cy="635498"/>
            <a:chOff x="0" y="0"/>
            <a:chExt cx="847331" cy="8473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7344" cy="847344"/>
            </a:xfrm>
            <a:custGeom>
              <a:avLst/>
              <a:gdLst/>
              <a:ahLst/>
              <a:cxnLst/>
              <a:rect r="r" b="b" t="t" l="l"/>
              <a:pathLst>
                <a:path h="847344" w="847344">
                  <a:moveTo>
                    <a:pt x="0" y="423672"/>
                  </a:moveTo>
                  <a:cubicBezTo>
                    <a:pt x="0" y="189738"/>
                    <a:pt x="189738" y="0"/>
                    <a:pt x="423672" y="0"/>
                  </a:cubicBezTo>
                  <a:cubicBezTo>
                    <a:pt x="657606" y="0"/>
                    <a:pt x="847344" y="189738"/>
                    <a:pt x="847344" y="423672"/>
                  </a:cubicBezTo>
                  <a:cubicBezTo>
                    <a:pt x="847344" y="657606"/>
                    <a:pt x="657606" y="847344"/>
                    <a:pt x="423672" y="847344"/>
                  </a:cubicBezTo>
                  <a:cubicBezTo>
                    <a:pt x="189738" y="847344"/>
                    <a:pt x="0" y="657606"/>
                    <a:pt x="0" y="42367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3" id="33" descr="preencoded.png"/>
          <p:cNvSpPr/>
          <p:nvPr/>
        </p:nvSpPr>
        <p:spPr>
          <a:xfrm flipH="false" flipV="false" rot="0">
            <a:off x="9636328" y="4869361"/>
            <a:ext cx="285902" cy="285902"/>
          </a:xfrm>
          <a:custGeom>
            <a:avLst/>
            <a:gdLst/>
            <a:ahLst/>
            <a:cxnLst/>
            <a:rect r="r" b="b" t="t" l="l"/>
            <a:pathLst>
              <a:path h="285902" w="285902">
                <a:moveTo>
                  <a:pt x="0" y="0"/>
                </a:moveTo>
                <a:lnTo>
                  <a:pt x="285903" y="0"/>
                </a:lnTo>
                <a:lnTo>
                  <a:pt x="285903" y="285902"/>
                </a:lnTo>
                <a:lnTo>
                  <a:pt x="0" y="2859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9031" r="0" b="-29031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9461602" y="5532387"/>
            <a:ext cx="2874169" cy="34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Action-First Approach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61602" y="5923655"/>
            <a:ext cx="7625953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Focuses on tangible actions and improvements, moving beyond mere compliance.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88666" y="7101478"/>
            <a:ext cx="8049368" cy="2406853"/>
            <a:chOff x="0" y="0"/>
            <a:chExt cx="10732491" cy="32091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32516" cy="3209163"/>
            </a:xfrm>
            <a:custGeom>
              <a:avLst/>
              <a:gdLst/>
              <a:ahLst/>
              <a:cxnLst/>
              <a:rect r="r" b="b" t="t" l="l"/>
              <a:pathLst>
                <a:path h="3209163" w="10732516">
                  <a:moveTo>
                    <a:pt x="0" y="42418"/>
                  </a:moveTo>
                  <a:cubicBezTo>
                    <a:pt x="0" y="18923"/>
                    <a:pt x="18923" y="0"/>
                    <a:pt x="42418" y="0"/>
                  </a:cubicBezTo>
                  <a:lnTo>
                    <a:pt x="10690098" y="0"/>
                  </a:lnTo>
                  <a:cubicBezTo>
                    <a:pt x="10713466" y="0"/>
                    <a:pt x="10732516" y="18923"/>
                    <a:pt x="10732516" y="42418"/>
                  </a:cubicBezTo>
                  <a:lnTo>
                    <a:pt x="10732516" y="3166745"/>
                  </a:lnTo>
                  <a:cubicBezTo>
                    <a:pt x="10732516" y="3190113"/>
                    <a:pt x="10713593" y="3209163"/>
                    <a:pt x="10690098" y="3209163"/>
                  </a:cubicBezTo>
                  <a:lnTo>
                    <a:pt x="42418" y="3209163"/>
                  </a:lnTo>
                  <a:cubicBezTo>
                    <a:pt x="19050" y="3209163"/>
                    <a:pt x="0" y="3190240"/>
                    <a:pt x="0" y="31667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00445" y="7313266"/>
            <a:ext cx="635498" cy="635498"/>
            <a:chOff x="0" y="0"/>
            <a:chExt cx="847331" cy="8473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7344" cy="847344"/>
            </a:xfrm>
            <a:custGeom>
              <a:avLst/>
              <a:gdLst/>
              <a:ahLst/>
              <a:cxnLst/>
              <a:rect r="r" b="b" t="t" l="l"/>
              <a:pathLst>
                <a:path h="847344" w="847344">
                  <a:moveTo>
                    <a:pt x="0" y="423672"/>
                  </a:moveTo>
                  <a:cubicBezTo>
                    <a:pt x="0" y="189738"/>
                    <a:pt x="189738" y="0"/>
                    <a:pt x="423672" y="0"/>
                  </a:cubicBezTo>
                  <a:cubicBezTo>
                    <a:pt x="657606" y="0"/>
                    <a:pt x="847344" y="189738"/>
                    <a:pt x="847344" y="423672"/>
                  </a:cubicBezTo>
                  <a:cubicBezTo>
                    <a:pt x="847344" y="657606"/>
                    <a:pt x="657606" y="847344"/>
                    <a:pt x="423672" y="847344"/>
                  </a:cubicBezTo>
                  <a:cubicBezTo>
                    <a:pt x="189738" y="847344"/>
                    <a:pt x="0" y="657606"/>
                    <a:pt x="0" y="42367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1375172" y="7487993"/>
            <a:ext cx="285902" cy="285902"/>
          </a:xfrm>
          <a:custGeom>
            <a:avLst/>
            <a:gdLst/>
            <a:ahLst/>
            <a:cxnLst/>
            <a:rect r="r" b="b" t="t" l="l"/>
            <a:pathLst>
              <a:path h="285902" w="285902">
                <a:moveTo>
                  <a:pt x="0" y="0"/>
                </a:moveTo>
                <a:lnTo>
                  <a:pt x="285902" y="0"/>
                </a:lnTo>
                <a:lnTo>
                  <a:pt x="285902" y="285902"/>
                </a:lnTo>
                <a:lnTo>
                  <a:pt x="0" y="2859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0968" r="0" b="-20965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200445" y="8151019"/>
            <a:ext cx="2648245" cy="34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State-Aware AI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0445" y="8542287"/>
            <a:ext cx="7625801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An intelligent assistant that understands context, offering more than basic chatbot functionality.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49813" y="7101478"/>
            <a:ext cx="8049520" cy="2406853"/>
            <a:chOff x="0" y="0"/>
            <a:chExt cx="10732694" cy="320913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732770" cy="3209163"/>
            </a:xfrm>
            <a:custGeom>
              <a:avLst/>
              <a:gdLst/>
              <a:ahLst/>
              <a:cxnLst/>
              <a:rect r="r" b="b" t="t" l="l"/>
              <a:pathLst>
                <a:path h="3209163" w="10732770">
                  <a:moveTo>
                    <a:pt x="0" y="42418"/>
                  </a:moveTo>
                  <a:cubicBezTo>
                    <a:pt x="0" y="18923"/>
                    <a:pt x="18923" y="0"/>
                    <a:pt x="42418" y="0"/>
                  </a:cubicBezTo>
                  <a:lnTo>
                    <a:pt x="10690352" y="0"/>
                  </a:lnTo>
                  <a:cubicBezTo>
                    <a:pt x="10713720" y="0"/>
                    <a:pt x="10732770" y="18923"/>
                    <a:pt x="10732770" y="42418"/>
                  </a:cubicBezTo>
                  <a:lnTo>
                    <a:pt x="10732770" y="3166745"/>
                  </a:lnTo>
                  <a:cubicBezTo>
                    <a:pt x="10732770" y="3190113"/>
                    <a:pt x="10713847" y="3209163"/>
                    <a:pt x="10690352" y="3209163"/>
                  </a:cubicBezTo>
                  <a:lnTo>
                    <a:pt x="42418" y="3209163"/>
                  </a:lnTo>
                  <a:cubicBezTo>
                    <a:pt x="19050" y="3209163"/>
                    <a:pt x="0" y="3190240"/>
                    <a:pt x="0" y="3166745"/>
                  </a:cubicBezTo>
                  <a:close/>
                </a:path>
              </a:pathLst>
            </a:custGeom>
            <a:solidFill>
              <a:srgbClr val="F2EEE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461602" y="7313266"/>
            <a:ext cx="635498" cy="635498"/>
            <a:chOff x="0" y="0"/>
            <a:chExt cx="847331" cy="8473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7344" cy="847344"/>
            </a:xfrm>
            <a:custGeom>
              <a:avLst/>
              <a:gdLst/>
              <a:ahLst/>
              <a:cxnLst/>
              <a:rect r="r" b="b" t="t" l="l"/>
              <a:pathLst>
                <a:path h="847344" w="847344">
                  <a:moveTo>
                    <a:pt x="0" y="423672"/>
                  </a:moveTo>
                  <a:cubicBezTo>
                    <a:pt x="0" y="189738"/>
                    <a:pt x="189738" y="0"/>
                    <a:pt x="423672" y="0"/>
                  </a:cubicBezTo>
                  <a:cubicBezTo>
                    <a:pt x="657606" y="0"/>
                    <a:pt x="847344" y="189738"/>
                    <a:pt x="847344" y="423672"/>
                  </a:cubicBezTo>
                  <a:cubicBezTo>
                    <a:pt x="847344" y="657606"/>
                    <a:pt x="657606" y="847344"/>
                    <a:pt x="423672" y="847344"/>
                  </a:cubicBezTo>
                  <a:cubicBezTo>
                    <a:pt x="189738" y="847344"/>
                    <a:pt x="0" y="657606"/>
                    <a:pt x="0" y="42367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7" id="47" descr="preencoded.png"/>
          <p:cNvSpPr/>
          <p:nvPr/>
        </p:nvSpPr>
        <p:spPr>
          <a:xfrm flipH="false" flipV="false" rot="0">
            <a:off x="9636328" y="7487993"/>
            <a:ext cx="285902" cy="285902"/>
          </a:xfrm>
          <a:custGeom>
            <a:avLst/>
            <a:gdLst/>
            <a:ahLst/>
            <a:cxnLst/>
            <a:rect r="r" b="b" t="t" l="l"/>
            <a:pathLst>
              <a:path h="285902" w="285902">
                <a:moveTo>
                  <a:pt x="0" y="0"/>
                </a:moveTo>
                <a:lnTo>
                  <a:pt x="285903" y="0"/>
                </a:lnTo>
                <a:lnTo>
                  <a:pt x="285903" y="285902"/>
                </a:lnTo>
                <a:lnTo>
                  <a:pt x="0" y="28590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9461602" y="8151019"/>
            <a:ext cx="2917327" cy="34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Lightweight &amp; Scalable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461602" y="8542287"/>
            <a:ext cx="7625953" cy="41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 demo-ready system designed for ease of use and future growth.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-8572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8102" y="380257"/>
            <a:ext cx="5380881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Business Model &amp; Long-Term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8102" y="1083916"/>
            <a:ext cx="4334024" cy="39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5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Sustainable Business Model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72245" y="5338912"/>
            <a:ext cx="8437807" cy="1261813"/>
            <a:chOff x="0" y="0"/>
            <a:chExt cx="11339309" cy="16957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9757"/>
              <a:ext cx="11313922" cy="1656237"/>
            </a:xfrm>
            <a:custGeom>
              <a:avLst/>
              <a:gdLst/>
              <a:ahLst/>
              <a:cxnLst/>
              <a:rect r="r" b="b" t="t" l="l"/>
              <a:pathLst>
                <a:path h="1656237" w="11313922">
                  <a:moveTo>
                    <a:pt x="0" y="189668"/>
                  </a:moveTo>
                  <a:cubicBezTo>
                    <a:pt x="0" y="84956"/>
                    <a:pt x="55753" y="0"/>
                    <a:pt x="124587" y="0"/>
                  </a:cubicBezTo>
                  <a:lnTo>
                    <a:pt x="11189335" y="0"/>
                  </a:lnTo>
                  <a:cubicBezTo>
                    <a:pt x="11258169" y="0"/>
                    <a:pt x="11313922" y="84956"/>
                    <a:pt x="11313922" y="189668"/>
                  </a:cubicBezTo>
                  <a:lnTo>
                    <a:pt x="11313922" y="1466570"/>
                  </a:lnTo>
                  <a:cubicBezTo>
                    <a:pt x="11313922" y="1571282"/>
                    <a:pt x="11258169" y="1656238"/>
                    <a:pt x="11189335" y="1656238"/>
                  </a:cubicBezTo>
                  <a:lnTo>
                    <a:pt x="124587" y="1656238"/>
                  </a:lnTo>
                  <a:cubicBezTo>
                    <a:pt x="55753" y="1656238"/>
                    <a:pt x="0" y="1571282"/>
                    <a:pt x="0" y="146657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39322" cy="1695738"/>
            </a:xfrm>
            <a:custGeom>
              <a:avLst/>
              <a:gdLst/>
              <a:ahLst/>
              <a:cxnLst/>
              <a:rect r="r" b="b" t="t" l="l"/>
              <a:pathLst>
                <a:path h="1695738" w="11339322">
                  <a:moveTo>
                    <a:pt x="0" y="209425"/>
                  </a:moveTo>
                  <a:cubicBezTo>
                    <a:pt x="0" y="93451"/>
                    <a:pt x="61722" y="0"/>
                    <a:pt x="137287" y="0"/>
                  </a:cubicBezTo>
                  <a:lnTo>
                    <a:pt x="11202035" y="0"/>
                  </a:lnTo>
                  <a:lnTo>
                    <a:pt x="11202035" y="19757"/>
                  </a:lnTo>
                  <a:lnTo>
                    <a:pt x="11202035" y="0"/>
                  </a:lnTo>
                  <a:cubicBezTo>
                    <a:pt x="11277600" y="0"/>
                    <a:pt x="11339322" y="93451"/>
                    <a:pt x="11339322" y="209425"/>
                  </a:cubicBezTo>
                  <a:lnTo>
                    <a:pt x="11326622" y="209425"/>
                  </a:lnTo>
                  <a:lnTo>
                    <a:pt x="11339322" y="209425"/>
                  </a:lnTo>
                  <a:lnTo>
                    <a:pt x="11339322" y="1486327"/>
                  </a:lnTo>
                  <a:lnTo>
                    <a:pt x="11326622" y="1486327"/>
                  </a:lnTo>
                  <a:lnTo>
                    <a:pt x="11339322" y="1486327"/>
                  </a:lnTo>
                  <a:cubicBezTo>
                    <a:pt x="11339322" y="1602301"/>
                    <a:pt x="11277600" y="1695738"/>
                    <a:pt x="11202035" y="1695738"/>
                  </a:cubicBezTo>
                  <a:lnTo>
                    <a:pt x="11202035" y="1675995"/>
                  </a:lnTo>
                  <a:lnTo>
                    <a:pt x="11202035" y="1695738"/>
                  </a:lnTo>
                  <a:lnTo>
                    <a:pt x="137287" y="1695738"/>
                  </a:lnTo>
                  <a:lnTo>
                    <a:pt x="137287" y="1675995"/>
                  </a:lnTo>
                  <a:lnTo>
                    <a:pt x="137287" y="1695738"/>
                  </a:lnTo>
                  <a:cubicBezTo>
                    <a:pt x="61722" y="1695738"/>
                    <a:pt x="0" y="1602301"/>
                    <a:pt x="0" y="1486327"/>
                  </a:cubicBezTo>
                  <a:lnTo>
                    <a:pt x="0" y="209425"/>
                  </a:lnTo>
                  <a:lnTo>
                    <a:pt x="12700" y="209425"/>
                  </a:lnTo>
                  <a:lnTo>
                    <a:pt x="0" y="209425"/>
                  </a:lnTo>
                  <a:moveTo>
                    <a:pt x="25400" y="209425"/>
                  </a:moveTo>
                  <a:lnTo>
                    <a:pt x="25400" y="1486327"/>
                  </a:lnTo>
                  <a:lnTo>
                    <a:pt x="12700" y="1486327"/>
                  </a:lnTo>
                  <a:lnTo>
                    <a:pt x="25400" y="1486327"/>
                  </a:lnTo>
                  <a:cubicBezTo>
                    <a:pt x="25400" y="1579778"/>
                    <a:pt x="75184" y="1656238"/>
                    <a:pt x="137287" y="1656238"/>
                  </a:cubicBezTo>
                  <a:lnTo>
                    <a:pt x="11202035" y="1656238"/>
                  </a:lnTo>
                  <a:cubicBezTo>
                    <a:pt x="11264011" y="1656238"/>
                    <a:pt x="11313922" y="1579778"/>
                    <a:pt x="11313922" y="1486327"/>
                  </a:cubicBezTo>
                  <a:lnTo>
                    <a:pt x="11313922" y="209425"/>
                  </a:lnTo>
                  <a:cubicBezTo>
                    <a:pt x="11313922" y="115974"/>
                    <a:pt x="11264138" y="39514"/>
                    <a:pt x="11202035" y="39514"/>
                  </a:cubicBezTo>
                  <a:lnTo>
                    <a:pt x="137287" y="39514"/>
                  </a:lnTo>
                  <a:lnTo>
                    <a:pt x="137287" y="19757"/>
                  </a:lnTo>
                  <a:lnTo>
                    <a:pt x="137287" y="39514"/>
                  </a:lnTo>
                  <a:cubicBezTo>
                    <a:pt x="75184" y="39514"/>
                    <a:pt x="25400" y="115974"/>
                    <a:pt x="25400" y="209425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70876" y="5338912"/>
            <a:ext cx="120419" cy="1261813"/>
            <a:chOff x="0" y="0"/>
            <a:chExt cx="101600" cy="10646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" cy="1064515"/>
            </a:xfrm>
            <a:custGeom>
              <a:avLst/>
              <a:gdLst/>
              <a:ahLst/>
              <a:cxnLst/>
              <a:rect r="r" b="b" t="t" l="l"/>
              <a:pathLst>
                <a:path h="1064515" w="101600">
                  <a:moveTo>
                    <a:pt x="0" y="24638"/>
                  </a:moveTo>
                  <a:cubicBezTo>
                    <a:pt x="0" y="11049"/>
                    <a:pt x="11049" y="0"/>
                    <a:pt x="24638" y="0"/>
                  </a:cubicBezTo>
                  <a:lnTo>
                    <a:pt x="76962" y="0"/>
                  </a:lnTo>
                  <a:cubicBezTo>
                    <a:pt x="90551" y="0"/>
                    <a:pt x="101600" y="11049"/>
                    <a:pt x="101600" y="24638"/>
                  </a:cubicBezTo>
                  <a:lnTo>
                    <a:pt x="101600" y="1039876"/>
                  </a:lnTo>
                  <a:cubicBezTo>
                    <a:pt x="101600" y="1053465"/>
                    <a:pt x="90551" y="1064514"/>
                    <a:pt x="76962" y="1064514"/>
                  </a:cubicBezTo>
                  <a:lnTo>
                    <a:pt x="24638" y="1064514"/>
                  </a:lnTo>
                  <a:cubicBezTo>
                    <a:pt x="11049" y="1064641"/>
                    <a:pt x="0" y="1053592"/>
                    <a:pt x="0" y="1039876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81347" y="5481339"/>
            <a:ext cx="3155156" cy="35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2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Strategic Partnerships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1347" y="5721398"/>
            <a:ext cx="8143427" cy="80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9"/>
              </a:lnSpc>
            </a:pPr>
            <a:r>
              <a:rPr lang="en-US" sz="20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Potential collaborations with banks, lenders, and ESG programs to expand reach.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3991" y="1083916"/>
            <a:ext cx="5388025" cy="391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537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Transformative Long-Term Impact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53195" y="3677048"/>
            <a:ext cx="8437807" cy="1261813"/>
            <a:chOff x="0" y="0"/>
            <a:chExt cx="11339309" cy="16957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9757"/>
              <a:ext cx="11313922" cy="1656237"/>
            </a:xfrm>
            <a:custGeom>
              <a:avLst/>
              <a:gdLst/>
              <a:ahLst/>
              <a:cxnLst/>
              <a:rect r="r" b="b" t="t" l="l"/>
              <a:pathLst>
                <a:path h="1656237" w="11313922">
                  <a:moveTo>
                    <a:pt x="0" y="189668"/>
                  </a:moveTo>
                  <a:cubicBezTo>
                    <a:pt x="0" y="84956"/>
                    <a:pt x="55753" y="0"/>
                    <a:pt x="124587" y="0"/>
                  </a:cubicBezTo>
                  <a:lnTo>
                    <a:pt x="11189335" y="0"/>
                  </a:lnTo>
                  <a:cubicBezTo>
                    <a:pt x="11258169" y="0"/>
                    <a:pt x="11313922" y="84956"/>
                    <a:pt x="11313922" y="189668"/>
                  </a:cubicBezTo>
                  <a:lnTo>
                    <a:pt x="11313922" y="1466570"/>
                  </a:lnTo>
                  <a:cubicBezTo>
                    <a:pt x="11313922" y="1571282"/>
                    <a:pt x="11258169" y="1656238"/>
                    <a:pt x="11189335" y="1656238"/>
                  </a:cubicBezTo>
                  <a:lnTo>
                    <a:pt x="124587" y="1656238"/>
                  </a:lnTo>
                  <a:cubicBezTo>
                    <a:pt x="55753" y="1656238"/>
                    <a:pt x="0" y="1571282"/>
                    <a:pt x="0" y="146657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39322" cy="1695738"/>
            </a:xfrm>
            <a:custGeom>
              <a:avLst/>
              <a:gdLst/>
              <a:ahLst/>
              <a:cxnLst/>
              <a:rect r="r" b="b" t="t" l="l"/>
              <a:pathLst>
                <a:path h="1695738" w="11339322">
                  <a:moveTo>
                    <a:pt x="0" y="209425"/>
                  </a:moveTo>
                  <a:cubicBezTo>
                    <a:pt x="0" y="93451"/>
                    <a:pt x="61722" y="0"/>
                    <a:pt x="137287" y="0"/>
                  </a:cubicBezTo>
                  <a:lnTo>
                    <a:pt x="11202035" y="0"/>
                  </a:lnTo>
                  <a:lnTo>
                    <a:pt x="11202035" y="19757"/>
                  </a:lnTo>
                  <a:lnTo>
                    <a:pt x="11202035" y="0"/>
                  </a:lnTo>
                  <a:cubicBezTo>
                    <a:pt x="11277600" y="0"/>
                    <a:pt x="11339322" y="93451"/>
                    <a:pt x="11339322" y="209425"/>
                  </a:cubicBezTo>
                  <a:lnTo>
                    <a:pt x="11326622" y="209425"/>
                  </a:lnTo>
                  <a:lnTo>
                    <a:pt x="11339322" y="209425"/>
                  </a:lnTo>
                  <a:lnTo>
                    <a:pt x="11339322" y="1486327"/>
                  </a:lnTo>
                  <a:lnTo>
                    <a:pt x="11326622" y="1486327"/>
                  </a:lnTo>
                  <a:lnTo>
                    <a:pt x="11339322" y="1486327"/>
                  </a:lnTo>
                  <a:cubicBezTo>
                    <a:pt x="11339322" y="1602301"/>
                    <a:pt x="11277600" y="1695738"/>
                    <a:pt x="11202035" y="1695738"/>
                  </a:cubicBezTo>
                  <a:lnTo>
                    <a:pt x="11202035" y="1675995"/>
                  </a:lnTo>
                  <a:lnTo>
                    <a:pt x="11202035" y="1695738"/>
                  </a:lnTo>
                  <a:lnTo>
                    <a:pt x="137287" y="1695738"/>
                  </a:lnTo>
                  <a:lnTo>
                    <a:pt x="137287" y="1675995"/>
                  </a:lnTo>
                  <a:lnTo>
                    <a:pt x="137287" y="1695738"/>
                  </a:lnTo>
                  <a:cubicBezTo>
                    <a:pt x="61722" y="1695738"/>
                    <a:pt x="0" y="1602301"/>
                    <a:pt x="0" y="1486327"/>
                  </a:cubicBezTo>
                  <a:lnTo>
                    <a:pt x="0" y="209425"/>
                  </a:lnTo>
                  <a:lnTo>
                    <a:pt x="12700" y="209425"/>
                  </a:lnTo>
                  <a:lnTo>
                    <a:pt x="0" y="209425"/>
                  </a:lnTo>
                  <a:moveTo>
                    <a:pt x="25400" y="209425"/>
                  </a:moveTo>
                  <a:lnTo>
                    <a:pt x="25400" y="1486327"/>
                  </a:lnTo>
                  <a:lnTo>
                    <a:pt x="12700" y="1486327"/>
                  </a:lnTo>
                  <a:lnTo>
                    <a:pt x="25400" y="1486327"/>
                  </a:lnTo>
                  <a:cubicBezTo>
                    <a:pt x="25400" y="1579778"/>
                    <a:pt x="75184" y="1656238"/>
                    <a:pt x="137287" y="1656238"/>
                  </a:cubicBezTo>
                  <a:lnTo>
                    <a:pt x="11202035" y="1656238"/>
                  </a:lnTo>
                  <a:cubicBezTo>
                    <a:pt x="11264011" y="1656238"/>
                    <a:pt x="11313922" y="1579778"/>
                    <a:pt x="11313922" y="1486327"/>
                  </a:cubicBezTo>
                  <a:lnTo>
                    <a:pt x="11313922" y="209425"/>
                  </a:lnTo>
                  <a:cubicBezTo>
                    <a:pt x="11313922" y="115974"/>
                    <a:pt x="11264138" y="39514"/>
                    <a:pt x="11202035" y="39514"/>
                  </a:cubicBezTo>
                  <a:lnTo>
                    <a:pt x="137287" y="39514"/>
                  </a:lnTo>
                  <a:lnTo>
                    <a:pt x="137287" y="19757"/>
                  </a:lnTo>
                  <a:lnTo>
                    <a:pt x="137287" y="39514"/>
                  </a:lnTo>
                  <a:cubicBezTo>
                    <a:pt x="75184" y="39514"/>
                    <a:pt x="25400" y="115974"/>
                    <a:pt x="25400" y="209425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51826" y="3677048"/>
            <a:ext cx="120419" cy="1261813"/>
            <a:chOff x="0" y="0"/>
            <a:chExt cx="101600" cy="10646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" cy="1064515"/>
            </a:xfrm>
            <a:custGeom>
              <a:avLst/>
              <a:gdLst/>
              <a:ahLst/>
              <a:cxnLst/>
              <a:rect r="r" b="b" t="t" l="l"/>
              <a:pathLst>
                <a:path h="1064515" w="101600">
                  <a:moveTo>
                    <a:pt x="0" y="24638"/>
                  </a:moveTo>
                  <a:cubicBezTo>
                    <a:pt x="0" y="11049"/>
                    <a:pt x="11049" y="0"/>
                    <a:pt x="24638" y="0"/>
                  </a:cubicBezTo>
                  <a:lnTo>
                    <a:pt x="76962" y="0"/>
                  </a:lnTo>
                  <a:cubicBezTo>
                    <a:pt x="90551" y="0"/>
                    <a:pt x="101600" y="11049"/>
                    <a:pt x="101600" y="24638"/>
                  </a:cubicBezTo>
                  <a:lnTo>
                    <a:pt x="101600" y="1039876"/>
                  </a:lnTo>
                  <a:cubicBezTo>
                    <a:pt x="101600" y="1053465"/>
                    <a:pt x="90551" y="1064514"/>
                    <a:pt x="76962" y="1064514"/>
                  </a:cubicBezTo>
                  <a:lnTo>
                    <a:pt x="24638" y="1064514"/>
                  </a:lnTo>
                  <a:cubicBezTo>
                    <a:pt x="11049" y="1064641"/>
                    <a:pt x="0" y="1053592"/>
                    <a:pt x="0" y="1039876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00385" y="3848518"/>
            <a:ext cx="2517874" cy="34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21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Paid Subscriptions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0385" y="4107626"/>
            <a:ext cx="8143427" cy="7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19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Advanced analytics, carbon tracking, AI assistant, and custom reports are available through B2B SaaS plans.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72245" y="2026118"/>
            <a:ext cx="8437807" cy="1261813"/>
            <a:chOff x="0" y="0"/>
            <a:chExt cx="11339309" cy="16957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2700" y="19757"/>
              <a:ext cx="11313922" cy="1656237"/>
            </a:xfrm>
            <a:custGeom>
              <a:avLst/>
              <a:gdLst/>
              <a:ahLst/>
              <a:cxnLst/>
              <a:rect r="r" b="b" t="t" l="l"/>
              <a:pathLst>
                <a:path h="1656237" w="11313922">
                  <a:moveTo>
                    <a:pt x="0" y="189668"/>
                  </a:moveTo>
                  <a:cubicBezTo>
                    <a:pt x="0" y="84956"/>
                    <a:pt x="55753" y="0"/>
                    <a:pt x="124587" y="0"/>
                  </a:cubicBezTo>
                  <a:lnTo>
                    <a:pt x="11189335" y="0"/>
                  </a:lnTo>
                  <a:cubicBezTo>
                    <a:pt x="11258169" y="0"/>
                    <a:pt x="11313922" y="84956"/>
                    <a:pt x="11313922" y="189668"/>
                  </a:cubicBezTo>
                  <a:lnTo>
                    <a:pt x="11313922" y="1466570"/>
                  </a:lnTo>
                  <a:cubicBezTo>
                    <a:pt x="11313922" y="1571282"/>
                    <a:pt x="11258169" y="1656238"/>
                    <a:pt x="11189335" y="1656238"/>
                  </a:cubicBezTo>
                  <a:lnTo>
                    <a:pt x="124587" y="1656238"/>
                  </a:lnTo>
                  <a:cubicBezTo>
                    <a:pt x="55753" y="1656238"/>
                    <a:pt x="0" y="1571282"/>
                    <a:pt x="0" y="146657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39322" cy="1695738"/>
            </a:xfrm>
            <a:custGeom>
              <a:avLst/>
              <a:gdLst/>
              <a:ahLst/>
              <a:cxnLst/>
              <a:rect r="r" b="b" t="t" l="l"/>
              <a:pathLst>
                <a:path h="1695738" w="11339322">
                  <a:moveTo>
                    <a:pt x="0" y="209425"/>
                  </a:moveTo>
                  <a:cubicBezTo>
                    <a:pt x="0" y="93451"/>
                    <a:pt x="61722" y="0"/>
                    <a:pt x="137287" y="0"/>
                  </a:cubicBezTo>
                  <a:lnTo>
                    <a:pt x="11202035" y="0"/>
                  </a:lnTo>
                  <a:lnTo>
                    <a:pt x="11202035" y="19757"/>
                  </a:lnTo>
                  <a:lnTo>
                    <a:pt x="11202035" y="0"/>
                  </a:lnTo>
                  <a:cubicBezTo>
                    <a:pt x="11277600" y="0"/>
                    <a:pt x="11339322" y="93451"/>
                    <a:pt x="11339322" y="209425"/>
                  </a:cubicBezTo>
                  <a:lnTo>
                    <a:pt x="11326622" y="209425"/>
                  </a:lnTo>
                  <a:lnTo>
                    <a:pt x="11339322" y="209425"/>
                  </a:lnTo>
                  <a:lnTo>
                    <a:pt x="11339322" y="1486327"/>
                  </a:lnTo>
                  <a:lnTo>
                    <a:pt x="11326622" y="1486327"/>
                  </a:lnTo>
                  <a:lnTo>
                    <a:pt x="11339322" y="1486327"/>
                  </a:lnTo>
                  <a:cubicBezTo>
                    <a:pt x="11339322" y="1602301"/>
                    <a:pt x="11277600" y="1695738"/>
                    <a:pt x="11202035" y="1695738"/>
                  </a:cubicBezTo>
                  <a:lnTo>
                    <a:pt x="11202035" y="1675995"/>
                  </a:lnTo>
                  <a:lnTo>
                    <a:pt x="11202035" y="1695738"/>
                  </a:lnTo>
                  <a:lnTo>
                    <a:pt x="137287" y="1695738"/>
                  </a:lnTo>
                  <a:lnTo>
                    <a:pt x="137287" y="1675995"/>
                  </a:lnTo>
                  <a:lnTo>
                    <a:pt x="137287" y="1695738"/>
                  </a:lnTo>
                  <a:cubicBezTo>
                    <a:pt x="61722" y="1695738"/>
                    <a:pt x="0" y="1602301"/>
                    <a:pt x="0" y="1486327"/>
                  </a:cubicBezTo>
                  <a:lnTo>
                    <a:pt x="0" y="209425"/>
                  </a:lnTo>
                  <a:lnTo>
                    <a:pt x="12700" y="209425"/>
                  </a:lnTo>
                  <a:lnTo>
                    <a:pt x="0" y="209425"/>
                  </a:lnTo>
                  <a:moveTo>
                    <a:pt x="25400" y="209425"/>
                  </a:moveTo>
                  <a:lnTo>
                    <a:pt x="25400" y="1486327"/>
                  </a:lnTo>
                  <a:lnTo>
                    <a:pt x="12700" y="1486327"/>
                  </a:lnTo>
                  <a:lnTo>
                    <a:pt x="25400" y="1486327"/>
                  </a:lnTo>
                  <a:cubicBezTo>
                    <a:pt x="25400" y="1579778"/>
                    <a:pt x="75184" y="1656238"/>
                    <a:pt x="137287" y="1656238"/>
                  </a:cubicBezTo>
                  <a:lnTo>
                    <a:pt x="11202035" y="1656238"/>
                  </a:lnTo>
                  <a:cubicBezTo>
                    <a:pt x="11264011" y="1656238"/>
                    <a:pt x="11313922" y="1579778"/>
                    <a:pt x="11313922" y="1486327"/>
                  </a:cubicBezTo>
                  <a:lnTo>
                    <a:pt x="11313922" y="209425"/>
                  </a:lnTo>
                  <a:cubicBezTo>
                    <a:pt x="11313922" y="115974"/>
                    <a:pt x="11264138" y="39514"/>
                    <a:pt x="11202035" y="39514"/>
                  </a:cubicBezTo>
                  <a:lnTo>
                    <a:pt x="137287" y="39514"/>
                  </a:lnTo>
                  <a:lnTo>
                    <a:pt x="137287" y="19757"/>
                  </a:lnTo>
                  <a:lnTo>
                    <a:pt x="137287" y="39514"/>
                  </a:lnTo>
                  <a:cubicBezTo>
                    <a:pt x="75184" y="39514"/>
                    <a:pt x="25400" y="115974"/>
                    <a:pt x="25400" y="209425"/>
                  </a:cubicBezTo>
                  <a:close/>
                </a:path>
              </a:pathLst>
            </a:custGeom>
            <a:solidFill>
              <a:srgbClr val="D8D4D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251826" y="2026118"/>
            <a:ext cx="120419" cy="1261813"/>
            <a:chOff x="0" y="0"/>
            <a:chExt cx="101600" cy="10646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00" cy="1064515"/>
            </a:xfrm>
            <a:custGeom>
              <a:avLst/>
              <a:gdLst/>
              <a:ahLst/>
              <a:cxnLst/>
              <a:rect r="r" b="b" t="t" l="l"/>
              <a:pathLst>
                <a:path h="1064515" w="101600">
                  <a:moveTo>
                    <a:pt x="0" y="24638"/>
                  </a:moveTo>
                  <a:cubicBezTo>
                    <a:pt x="0" y="11049"/>
                    <a:pt x="11049" y="0"/>
                    <a:pt x="24638" y="0"/>
                  </a:cubicBezTo>
                  <a:lnTo>
                    <a:pt x="76962" y="0"/>
                  </a:lnTo>
                  <a:cubicBezTo>
                    <a:pt x="90551" y="0"/>
                    <a:pt x="101600" y="11049"/>
                    <a:pt x="101600" y="24638"/>
                  </a:cubicBezTo>
                  <a:lnTo>
                    <a:pt x="101600" y="1039876"/>
                  </a:lnTo>
                  <a:cubicBezTo>
                    <a:pt x="101600" y="1053465"/>
                    <a:pt x="90551" y="1064514"/>
                    <a:pt x="76962" y="1064514"/>
                  </a:cubicBezTo>
                  <a:lnTo>
                    <a:pt x="24638" y="1064514"/>
                  </a:lnTo>
                  <a:cubicBezTo>
                    <a:pt x="11049" y="1064641"/>
                    <a:pt x="0" y="1053592"/>
                    <a:pt x="0" y="1039876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500385" y="2191245"/>
            <a:ext cx="2464296" cy="38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5"/>
              </a:lnSpc>
            </a:pPr>
            <a:r>
              <a:rPr lang="en-US" sz="2387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Freemium Model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0385" y="2442745"/>
            <a:ext cx="8143427" cy="834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13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Offers free ESG assessment and a basic dashboard to onboard users.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03991" y="1648886"/>
            <a:ext cx="7955309" cy="584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82"/>
              </a:lnSpc>
            </a:pPr>
            <a:r>
              <a:rPr lang="en-US" sz="256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ESG Resolve is designed for lasting positive change:</a:t>
            </a:r>
          </a:p>
          <a:p>
            <a:pPr algn="just">
              <a:lnSpc>
                <a:spcPts val="5169"/>
              </a:lnSpc>
            </a:pPr>
          </a:p>
          <a:p>
            <a:pPr algn="just" marL="553241" indent="-276621" lvl="1">
              <a:lnSpc>
                <a:spcPts val="3182"/>
              </a:lnSpc>
              <a:buFont typeface="Arial"/>
              <a:buChar char="•"/>
            </a:pPr>
            <a:r>
              <a:rPr lang="en-US" b="true" sz="25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Reduces SME emissions and operational waste.</a:t>
            </a:r>
          </a:p>
          <a:p>
            <a:pPr algn="just" marL="553241" indent="-276621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Enc</a:t>
            </a:r>
            <a:r>
              <a:rPr lang="en-US" b="true" sz="25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ourages responsible business practices across sectors.</a:t>
            </a:r>
          </a:p>
          <a:p>
            <a:pPr algn="just" marL="553241" indent="-276621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Scales across diverse industries and geographical regions.</a:t>
            </a:r>
          </a:p>
          <a:p>
            <a:pPr algn="just" marL="553241" indent="-276621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Reduces reliance on expensive ESG consultants, democratizing sustainability.</a:t>
            </a:r>
          </a:p>
          <a:p>
            <a:pPr algn="just" marL="553241" indent="-276621" lvl="1">
              <a:lnSpc>
                <a:spcPts val="318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62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Supports long-term ESG maturity and business resilience.</a:t>
            </a:r>
          </a:p>
          <a:p>
            <a:pPr algn="just">
              <a:lnSpc>
                <a:spcPts val="3183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964997"/>
            <a:ext cx="16303523" cy="179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Challenges Faced: Navigating the Path to Innovation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227784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766842"/>
            <a:ext cx="5245446" cy="38100"/>
            <a:chOff x="0" y="0"/>
            <a:chExt cx="6993928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3975202"/>
            <a:ext cx="518933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Incomplete ESG Data Handling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512021"/>
            <a:ext cx="5245446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Developing robust mechanisms to manage and derive insights from partial or ambiguous SME data.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21206" y="3227784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3766842"/>
            <a:ext cx="5245446" cy="38100"/>
            <a:chOff x="0" y="0"/>
            <a:chExt cx="6993928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521206" y="3975202"/>
            <a:ext cx="465400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Carbon Footprint Accuracy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21206" y="4512021"/>
            <a:ext cx="5245446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Ensuring precise and reliable carbon emission estimations for varied SME operations.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50163" y="3227784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0163" y="3766842"/>
            <a:ext cx="5245446" cy="38100"/>
            <a:chOff x="0" y="0"/>
            <a:chExt cx="6993928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050163" y="3975202"/>
            <a:ext cx="359568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AI Response Stability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0163" y="4512021"/>
            <a:ext cx="5245446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Optimizing AI models for consistent, relevant, and actionable recommendations in diverse scenarios.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6813052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238" y="7352109"/>
            <a:ext cx="8009934" cy="38100"/>
            <a:chOff x="0" y="0"/>
            <a:chExt cx="10679913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92238" y="7560469"/>
            <a:ext cx="519171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Backend-Frontend Integration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8097288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Seamlessly connecting the powerful analytics engine with an intuitive user interface.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85684" y="6813052"/>
            <a:ext cx="283521" cy="44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85684" y="7352109"/>
            <a:ext cx="8009934" cy="38100"/>
            <a:chOff x="0" y="0"/>
            <a:chExt cx="10679913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285684" y="7560469"/>
            <a:ext cx="4210945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Deployment and Hosting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85684" y="8097288"/>
            <a:ext cx="8009934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Establishing a stable, secure, and scalable infrastructure for continuous service delivery.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8" y="824951"/>
            <a:ext cx="16303523" cy="171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Enhancements: Evolving for Greater Impact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479597"/>
            <a:ext cx="5254971" cy="2855862"/>
            <a:chOff x="0" y="0"/>
            <a:chExt cx="7006628" cy="38078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3807841"/>
            </a:xfrm>
            <a:custGeom>
              <a:avLst/>
              <a:gdLst/>
              <a:ahLst/>
              <a:cxnLst/>
              <a:rect r="r" b="b" t="t" l="l"/>
              <a:pathLst>
                <a:path h="3807841" w="70065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62750" y="0"/>
                  </a:lnTo>
                  <a:cubicBezTo>
                    <a:pt x="6897370" y="0"/>
                    <a:pt x="7006590" y="109220"/>
                    <a:pt x="7006590" y="243840"/>
                  </a:cubicBezTo>
                  <a:lnTo>
                    <a:pt x="7006590" y="3564001"/>
                  </a:lnTo>
                  <a:cubicBezTo>
                    <a:pt x="7006590" y="3698621"/>
                    <a:pt x="6897370" y="3807841"/>
                    <a:pt x="6762750" y="3807841"/>
                  </a:cubicBezTo>
                  <a:lnTo>
                    <a:pt x="243840" y="3807841"/>
                  </a:lnTo>
                  <a:cubicBezTo>
                    <a:pt x="109220" y="3807841"/>
                    <a:pt x="0" y="3698621"/>
                    <a:pt x="0" y="356400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2238" y="3441497"/>
            <a:ext cx="5254971" cy="152400"/>
            <a:chOff x="0" y="0"/>
            <a:chExt cx="7006628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06590" cy="203200"/>
            </a:xfrm>
            <a:custGeom>
              <a:avLst/>
              <a:gdLst/>
              <a:ahLst/>
              <a:cxnLst/>
              <a:rect r="r" b="b" t="t" l="l"/>
              <a:pathLst>
                <a:path h="203200" w="7006590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6952742" y="0"/>
                  </a:lnTo>
                  <a:cubicBezTo>
                    <a:pt x="6982461" y="0"/>
                    <a:pt x="7006590" y="24130"/>
                    <a:pt x="7006590" y="53848"/>
                  </a:cubicBezTo>
                  <a:lnTo>
                    <a:pt x="7006590" y="149352"/>
                  </a:lnTo>
                  <a:cubicBezTo>
                    <a:pt x="7006590" y="179070"/>
                    <a:pt x="6982461" y="203200"/>
                    <a:pt x="6952742" y="203200"/>
                  </a:cubicBezTo>
                  <a:lnTo>
                    <a:pt x="53848" y="203200"/>
                  </a:lnTo>
                  <a:cubicBezTo>
                    <a:pt x="24130" y="203200"/>
                    <a:pt x="0" y="179070"/>
                    <a:pt x="0" y="14935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215659" y="3075680"/>
            <a:ext cx="807987" cy="807987"/>
            <a:chOff x="0" y="0"/>
            <a:chExt cx="1077316" cy="10773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7341" cy="1077341"/>
            </a:xfrm>
            <a:custGeom>
              <a:avLst/>
              <a:gdLst/>
              <a:ahLst/>
              <a:cxnLst/>
              <a:rect r="r" b="b" t="t" l="l"/>
              <a:pathLst>
                <a:path h="1077341" w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3458099" y="3172863"/>
            <a:ext cx="323107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9572" y="4143375"/>
            <a:ext cx="3366935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Refined Models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9572" y="4639866"/>
            <a:ext cx="4640313" cy="138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Developing even more accurate ESG and carbon models for granular insights.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516443" y="3479597"/>
            <a:ext cx="5254971" cy="2855862"/>
            <a:chOff x="0" y="0"/>
            <a:chExt cx="7006628" cy="38078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6590" cy="3807841"/>
            </a:xfrm>
            <a:custGeom>
              <a:avLst/>
              <a:gdLst/>
              <a:ahLst/>
              <a:cxnLst/>
              <a:rect r="r" b="b" t="t" l="l"/>
              <a:pathLst>
                <a:path h="3807841" w="70065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62750" y="0"/>
                  </a:lnTo>
                  <a:cubicBezTo>
                    <a:pt x="6897370" y="0"/>
                    <a:pt x="7006590" y="109220"/>
                    <a:pt x="7006590" y="243840"/>
                  </a:cubicBezTo>
                  <a:lnTo>
                    <a:pt x="7006590" y="3564001"/>
                  </a:lnTo>
                  <a:cubicBezTo>
                    <a:pt x="7006590" y="3698621"/>
                    <a:pt x="6897370" y="3807841"/>
                    <a:pt x="6762750" y="3807841"/>
                  </a:cubicBezTo>
                  <a:lnTo>
                    <a:pt x="243840" y="3807841"/>
                  </a:lnTo>
                  <a:cubicBezTo>
                    <a:pt x="109220" y="3807841"/>
                    <a:pt x="0" y="3698621"/>
                    <a:pt x="0" y="356400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516443" y="3441497"/>
            <a:ext cx="5254971" cy="152400"/>
            <a:chOff x="0" y="0"/>
            <a:chExt cx="7006628" cy="20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06590" cy="203200"/>
            </a:xfrm>
            <a:custGeom>
              <a:avLst/>
              <a:gdLst/>
              <a:ahLst/>
              <a:cxnLst/>
              <a:rect r="r" b="b" t="t" l="l"/>
              <a:pathLst>
                <a:path h="203200" w="7006590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6952742" y="0"/>
                  </a:lnTo>
                  <a:cubicBezTo>
                    <a:pt x="6982461" y="0"/>
                    <a:pt x="7006590" y="24130"/>
                    <a:pt x="7006590" y="53848"/>
                  </a:cubicBezTo>
                  <a:lnTo>
                    <a:pt x="7006590" y="149352"/>
                  </a:lnTo>
                  <a:cubicBezTo>
                    <a:pt x="7006590" y="179070"/>
                    <a:pt x="6982461" y="203200"/>
                    <a:pt x="6952742" y="203200"/>
                  </a:cubicBezTo>
                  <a:lnTo>
                    <a:pt x="53848" y="203200"/>
                  </a:lnTo>
                  <a:cubicBezTo>
                    <a:pt x="24130" y="203200"/>
                    <a:pt x="0" y="179070"/>
                    <a:pt x="0" y="14935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739854" y="3075680"/>
            <a:ext cx="807987" cy="807987"/>
            <a:chOff x="0" y="0"/>
            <a:chExt cx="1077316" cy="10773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7341" cy="1077341"/>
            </a:xfrm>
            <a:custGeom>
              <a:avLst/>
              <a:gdLst/>
              <a:ahLst/>
              <a:cxnLst/>
              <a:rect r="r" b="b" t="t" l="l"/>
              <a:pathLst>
                <a:path h="1077341" w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982294" y="3172863"/>
            <a:ext cx="323107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23767" y="4143375"/>
            <a:ext cx="4048125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Advanced Benchmarking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23767" y="4639866"/>
            <a:ext cx="4640313" cy="138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Introducing sophisticated analytics and benchmarking capabilities against industry peers.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40638" y="3479597"/>
            <a:ext cx="5254971" cy="2855862"/>
            <a:chOff x="0" y="0"/>
            <a:chExt cx="7006628" cy="38078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06590" cy="3807841"/>
            </a:xfrm>
            <a:custGeom>
              <a:avLst/>
              <a:gdLst/>
              <a:ahLst/>
              <a:cxnLst/>
              <a:rect r="r" b="b" t="t" l="l"/>
              <a:pathLst>
                <a:path h="3807841" w="700659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62750" y="0"/>
                  </a:lnTo>
                  <a:cubicBezTo>
                    <a:pt x="6897370" y="0"/>
                    <a:pt x="7006590" y="109220"/>
                    <a:pt x="7006590" y="243840"/>
                  </a:cubicBezTo>
                  <a:lnTo>
                    <a:pt x="7006590" y="3564001"/>
                  </a:lnTo>
                  <a:cubicBezTo>
                    <a:pt x="7006590" y="3698621"/>
                    <a:pt x="6897370" y="3807841"/>
                    <a:pt x="6762750" y="3807841"/>
                  </a:cubicBezTo>
                  <a:lnTo>
                    <a:pt x="243840" y="3807841"/>
                  </a:lnTo>
                  <a:cubicBezTo>
                    <a:pt x="109220" y="3807841"/>
                    <a:pt x="0" y="3698621"/>
                    <a:pt x="0" y="356400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2040638" y="3441497"/>
            <a:ext cx="5254971" cy="152400"/>
            <a:chOff x="0" y="0"/>
            <a:chExt cx="7006628" cy="203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06590" cy="203200"/>
            </a:xfrm>
            <a:custGeom>
              <a:avLst/>
              <a:gdLst/>
              <a:ahLst/>
              <a:cxnLst/>
              <a:rect r="r" b="b" t="t" l="l"/>
              <a:pathLst>
                <a:path h="203200" w="7006590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6952742" y="0"/>
                  </a:lnTo>
                  <a:cubicBezTo>
                    <a:pt x="6982461" y="0"/>
                    <a:pt x="7006590" y="24130"/>
                    <a:pt x="7006590" y="53848"/>
                  </a:cubicBezTo>
                  <a:lnTo>
                    <a:pt x="7006590" y="149352"/>
                  </a:lnTo>
                  <a:cubicBezTo>
                    <a:pt x="7006590" y="179070"/>
                    <a:pt x="6982461" y="203200"/>
                    <a:pt x="6952742" y="203200"/>
                  </a:cubicBezTo>
                  <a:lnTo>
                    <a:pt x="53848" y="203200"/>
                  </a:lnTo>
                  <a:cubicBezTo>
                    <a:pt x="24130" y="203200"/>
                    <a:pt x="0" y="179070"/>
                    <a:pt x="0" y="14935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264059" y="3075680"/>
            <a:ext cx="807987" cy="807987"/>
            <a:chOff x="0" y="0"/>
            <a:chExt cx="1077316" cy="10773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7341" cy="1077341"/>
            </a:xfrm>
            <a:custGeom>
              <a:avLst/>
              <a:gdLst/>
              <a:ahLst/>
              <a:cxnLst/>
              <a:rect r="r" b="b" t="t" l="l"/>
              <a:pathLst>
                <a:path h="1077341" w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4506499" y="3172863"/>
            <a:ext cx="323107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347972" y="4143375"/>
            <a:ext cx="4481960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Enhanced UX &amp; Onboarding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347972" y="4639866"/>
            <a:ext cx="4640313" cy="138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Improving user experience and providing guided onboarding for seamless adoption.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92238" y="7008609"/>
            <a:ext cx="8017078" cy="2424855"/>
            <a:chOff x="0" y="0"/>
            <a:chExt cx="10689438" cy="32331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89463" cy="3233166"/>
            </a:xfrm>
            <a:custGeom>
              <a:avLst/>
              <a:gdLst/>
              <a:ahLst/>
              <a:cxnLst/>
              <a:rect r="r" b="b" t="t" l="l"/>
              <a:pathLst>
                <a:path h="3233166" w="1068946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45623" y="0"/>
                  </a:lnTo>
                  <a:cubicBezTo>
                    <a:pt x="10580243" y="0"/>
                    <a:pt x="10689463" y="109220"/>
                    <a:pt x="10689463" y="243840"/>
                  </a:cubicBezTo>
                  <a:lnTo>
                    <a:pt x="10689463" y="2989326"/>
                  </a:lnTo>
                  <a:cubicBezTo>
                    <a:pt x="10689463" y="3123946"/>
                    <a:pt x="10580243" y="3233166"/>
                    <a:pt x="10445623" y="3233166"/>
                  </a:cubicBezTo>
                  <a:lnTo>
                    <a:pt x="243840" y="3233166"/>
                  </a:lnTo>
                  <a:cubicBezTo>
                    <a:pt x="109220" y="3233166"/>
                    <a:pt x="0" y="3123946"/>
                    <a:pt x="0" y="298932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92238" y="6970509"/>
            <a:ext cx="8017078" cy="152400"/>
            <a:chOff x="0" y="0"/>
            <a:chExt cx="10689438" cy="203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89336" cy="203200"/>
            </a:xfrm>
            <a:custGeom>
              <a:avLst/>
              <a:gdLst/>
              <a:ahLst/>
              <a:cxnLst/>
              <a:rect r="r" b="b" t="t" l="l"/>
              <a:pathLst>
                <a:path h="203200" w="10689336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10635488" y="0"/>
                  </a:lnTo>
                  <a:cubicBezTo>
                    <a:pt x="10665206" y="0"/>
                    <a:pt x="10689336" y="24130"/>
                    <a:pt x="10689336" y="53848"/>
                  </a:cubicBezTo>
                  <a:lnTo>
                    <a:pt x="10689336" y="149352"/>
                  </a:lnTo>
                  <a:cubicBezTo>
                    <a:pt x="10689336" y="179070"/>
                    <a:pt x="10665206" y="203200"/>
                    <a:pt x="10635488" y="203200"/>
                  </a:cubicBezTo>
                  <a:lnTo>
                    <a:pt x="53848" y="203200"/>
                  </a:lnTo>
                  <a:cubicBezTo>
                    <a:pt x="24130" y="203200"/>
                    <a:pt x="0" y="179070"/>
                    <a:pt x="0" y="14935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4596784" y="6604692"/>
            <a:ext cx="807987" cy="807987"/>
            <a:chOff x="0" y="0"/>
            <a:chExt cx="1077316" cy="10773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7341" cy="1077341"/>
            </a:xfrm>
            <a:custGeom>
              <a:avLst/>
              <a:gdLst/>
              <a:ahLst/>
              <a:cxnLst/>
              <a:rect r="r" b="b" t="t" l="l"/>
              <a:pathLst>
                <a:path h="1077341" w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4839224" y="6701876"/>
            <a:ext cx="323107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9572" y="7672387"/>
            <a:ext cx="3687366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Integrations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99572" y="8168878"/>
            <a:ext cx="7402411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Integrating with various data sources for live ESG data updates and monitoring.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78541" y="7008609"/>
            <a:ext cx="8017078" cy="2424855"/>
            <a:chOff x="0" y="0"/>
            <a:chExt cx="10689438" cy="323314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89463" cy="3233166"/>
            </a:xfrm>
            <a:custGeom>
              <a:avLst/>
              <a:gdLst/>
              <a:ahLst/>
              <a:cxnLst/>
              <a:rect r="r" b="b" t="t" l="l"/>
              <a:pathLst>
                <a:path h="3233166" w="10689463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45623" y="0"/>
                  </a:lnTo>
                  <a:cubicBezTo>
                    <a:pt x="10580243" y="0"/>
                    <a:pt x="10689463" y="109220"/>
                    <a:pt x="10689463" y="243840"/>
                  </a:cubicBezTo>
                  <a:lnTo>
                    <a:pt x="10689463" y="2989326"/>
                  </a:lnTo>
                  <a:cubicBezTo>
                    <a:pt x="10689463" y="3123946"/>
                    <a:pt x="10580243" y="3233166"/>
                    <a:pt x="10445623" y="3233166"/>
                  </a:cubicBezTo>
                  <a:lnTo>
                    <a:pt x="243840" y="3233166"/>
                  </a:lnTo>
                  <a:cubicBezTo>
                    <a:pt x="109220" y="3233166"/>
                    <a:pt x="0" y="3123946"/>
                    <a:pt x="0" y="2989326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278541" y="6970509"/>
            <a:ext cx="8017078" cy="152400"/>
            <a:chOff x="0" y="0"/>
            <a:chExt cx="10689438" cy="203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89336" cy="203200"/>
            </a:xfrm>
            <a:custGeom>
              <a:avLst/>
              <a:gdLst/>
              <a:ahLst/>
              <a:cxnLst/>
              <a:rect r="r" b="b" t="t" l="l"/>
              <a:pathLst>
                <a:path h="203200" w="10689336">
                  <a:moveTo>
                    <a:pt x="0" y="53848"/>
                  </a:moveTo>
                  <a:cubicBezTo>
                    <a:pt x="0" y="24130"/>
                    <a:pt x="24130" y="0"/>
                    <a:pt x="53848" y="0"/>
                  </a:cubicBezTo>
                  <a:lnTo>
                    <a:pt x="10635488" y="0"/>
                  </a:lnTo>
                  <a:cubicBezTo>
                    <a:pt x="10665206" y="0"/>
                    <a:pt x="10689336" y="24130"/>
                    <a:pt x="10689336" y="53848"/>
                  </a:cubicBezTo>
                  <a:lnTo>
                    <a:pt x="10689336" y="149352"/>
                  </a:lnTo>
                  <a:cubicBezTo>
                    <a:pt x="10689336" y="179070"/>
                    <a:pt x="10665206" y="203200"/>
                    <a:pt x="10635488" y="203200"/>
                  </a:cubicBezTo>
                  <a:lnTo>
                    <a:pt x="53848" y="203200"/>
                  </a:lnTo>
                  <a:cubicBezTo>
                    <a:pt x="24130" y="203200"/>
                    <a:pt x="0" y="179070"/>
                    <a:pt x="0" y="149352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2883086" y="6604692"/>
            <a:ext cx="807987" cy="807987"/>
            <a:chOff x="0" y="0"/>
            <a:chExt cx="1077316" cy="10773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7341" cy="1077341"/>
            </a:xfrm>
            <a:custGeom>
              <a:avLst/>
              <a:gdLst/>
              <a:ahLst/>
              <a:cxnLst/>
              <a:rect r="r" b="b" t="t" l="l"/>
              <a:pathLst>
                <a:path h="1077341" w="1077341">
                  <a:moveTo>
                    <a:pt x="0" y="538607"/>
                  </a:moveTo>
                  <a:cubicBezTo>
                    <a:pt x="0" y="241173"/>
                    <a:pt x="241173" y="0"/>
                    <a:pt x="538607" y="0"/>
                  </a:cubicBezTo>
                  <a:cubicBezTo>
                    <a:pt x="836041" y="0"/>
                    <a:pt x="1077341" y="241173"/>
                    <a:pt x="1077341" y="538607"/>
                  </a:cubicBezTo>
                  <a:cubicBezTo>
                    <a:pt x="1077341" y="836041"/>
                    <a:pt x="836168" y="1077341"/>
                    <a:pt x="538607" y="1077341"/>
                  </a:cubicBezTo>
                  <a:cubicBezTo>
                    <a:pt x="241046" y="1077341"/>
                    <a:pt x="0" y="836168"/>
                    <a:pt x="0" y="538607"/>
                  </a:cubicBez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13125526" y="6701876"/>
            <a:ext cx="323107" cy="508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24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585874" y="7672387"/>
            <a:ext cx="3737972" cy="43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true">
                <a:solidFill>
                  <a:srgbClr val="464646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Predictive ESG Insights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85874" y="8168878"/>
            <a:ext cx="7402411" cy="957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062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Offering forward-looking analysis to anticipate and mitigate potential ESG risks.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129613" y="9670732"/>
            <a:ext cx="1992064" cy="45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362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Team Velocity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>
            <a:hlinkClick r:id="rId3" tooltip="https://gamma.app/?utm_source=made-with-gamma"/>
          </p:cNvPr>
          <p:cNvSpPr/>
          <p:nvPr/>
        </p:nvSpPr>
        <p:spPr>
          <a:xfrm flipH="false" flipV="false" rot="0">
            <a:off x="16049015" y="9686925"/>
            <a:ext cx="2153260" cy="514350"/>
          </a:xfrm>
          <a:custGeom>
            <a:avLst/>
            <a:gdLst/>
            <a:ahLst/>
            <a:cxnLst/>
            <a:rect r="r" b="b" t="t" l="l"/>
            <a:pathLst>
              <a:path h="514350" w="2153260">
                <a:moveTo>
                  <a:pt x="0" y="0"/>
                </a:moveTo>
                <a:lnTo>
                  <a:pt x="2153260" y="0"/>
                </a:lnTo>
                <a:lnTo>
                  <a:pt x="215326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92238" y="1558528"/>
            <a:ext cx="9445523" cy="131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24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 Turning ESG Readiness into Real Business Advantage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1173" y="3398044"/>
            <a:ext cx="9126588" cy="756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ESG Resolve transforms ESG from confusion to action, making sustainability practical, affordable, and scalable for Small and Medium-sized Enterprises.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3235081"/>
            <a:ext cx="28575" cy="1158773"/>
            <a:chOff x="0" y="0"/>
            <a:chExt cx="38100" cy="15450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00" cy="1545082"/>
            </a:xfrm>
            <a:custGeom>
              <a:avLst/>
              <a:gdLst/>
              <a:ahLst/>
              <a:cxnLst/>
              <a:rect r="r" b="b" t="t" l="l"/>
              <a:pathLst>
                <a:path h="1545082" w="38100">
                  <a:moveTo>
                    <a:pt x="0" y="0"/>
                  </a:moveTo>
                  <a:lnTo>
                    <a:pt x="38100" y="0"/>
                  </a:lnTo>
                  <a:lnTo>
                    <a:pt x="38100" y="1545082"/>
                  </a:lnTo>
                  <a:lnTo>
                    <a:pt x="0" y="1545082"/>
                  </a:lnTo>
                  <a:close/>
                </a:path>
              </a:pathLst>
            </a:custGeom>
            <a:solidFill>
              <a:srgbClr val="1C977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4665164"/>
            <a:ext cx="9445523" cy="403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37"/>
              </a:lnSpc>
            </a:pPr>
            <a:r>
              <a:rPr lang="en-US" sz="8312" b="true">
                <a:solidFill>
                  <a:srgbClr val="030303"/>
                </a:solidFill>
                <a:latin typeface="DM Sans Bold"/>
                <a:ea typeface="DM Sans Bold"/>
                <a:cs typeface="DM Sans Bold"/>
                <a:sym typeface="DM Sans Bold"/>
              </a:rPr>
              <a:t>Empowering SMEs for a Sustainable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DAG-Eu4pRYA</dc:identifier>
  <dcterms:modified xsi:type="dcterms:W3CDTF">2011-08-01T06:04:30Z</dcterms:modified>
  <cp:revision>1</cp:revision>
  <dc:title>presentation-gdg2</dc:title>
</cp:coreProperties>
</file>